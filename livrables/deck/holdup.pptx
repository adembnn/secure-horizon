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Trame d'Adem (livrables/pitch_v7/PITCH_ADEM.md) : en 2026, on ne peut plus promettre qu'un site est sûr. 21 novembre 2025, le site d'Aerodrome est détourné (DNS modifié) : 81 minutes entre le changement et le signalement du domaine, environ 700 000 $ de pertes. Mesure de Blockaid sur son propre délai : source intéressée, le dire si on demande. Postulat : tout service en ligne finira par être compromis ; la question devient « qu'est-ce que je lui ai laissé le droit de prendre ce jour-là ». Sur Avalanche C-Chain, 34,2 % [33,6 ; 34,9] des droits de dépense non nuls lus sont illimités (7 103 sur 20 753) : mesure interne, des événements et non des personnes. Nous adressons Avalanche : ne pas citer Ethereum. Aerodrome n'est pas sur Avalanche : c'est un exemple de site détourné, pas une mesure de notre chaîne. CHIFFRES.md B16 et B1.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Hold up est une extension Chrome posée devant le portefeuille existant. Elle ne tient aucune clé et ne signe rien. La personne écrit ce qu'elle veut faire ; du code lit montant, monnaie et adresse dans la demande et compare. Trois réponses, au mot près : « Ça correspond à ce que tu as écrit. », « Ça ne correspond pas à ce que tu as écrit. », « Je n'ai pas pu vérifier cette demande. ». « Ça correspond » vaut d'après ce que Hold up sait lire : ce n'est pas une garantie. La phrase seule part vers le modèle Clef par un relais local (D-015) ; le modèle ne lit ni montants ni adresses et ne peut pas baisser une alerte du code. Chaque décision est écrite dans un cahier chaîné par hachage. Règle décidée par Adem le 11 oct. : une demande illimitée donne « Ça ne correspond pas », le gant, et le geste « Limiter à 50 USDC et envoyer » ; plus aucune limitation ni départ automatiques. Les deux écrans montrés sont ceux du système de design (planche), pas l'extension livrée ; le libellé du geste sur la capture (« Envoyer quand même ») est celui de la planche, pas encore tous appliqués au code : l'interface actuelle de l'extension est visible slide 7. Ne pas dire « l'échange est vérifié », « rien ne quitte la machine », « sécurisé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Scène prouvée sur la chaîne (livrables/pitch_v7/DEMO_DEROULE.md, H2 et H3) : site honnête qui demande l'illimité, piraté plus tard. Le compte part de 100 USDC. Sans Hold up : 50 après l'échange, puis 0 après le piratage. Avec : autorisation limitée à 50 par le geste « Limiter à 50 USDC et envoyer », consommée par l'échange, le compte garde 50. Le parcours avec Hold up est joué dans un vrai Chromium (film_scene.mjs), le « sans » sur la chaîne seulement. Le script demande une chaîne locale déployée (npm run demo:deploy -- --network localhost) : le jury ne le rejoue pas en une commande. Copie locale d'Avalanche, rien sur Fuji (D-016).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révocation est branchée dans l'extension, panneau latéral (messages hu.revoke.*, extension/REVOKE_BRANCHEMENT.md). Hold up prépare la demande de retrait (approve à 0, setApprovalForAll false, Permit2 approve à 0) ; le portefeuille la signe, jamais Hold up. Un clic seulement si une transaction suffit. Permit EIP-2612, DAI et Permit2 signé : plusieurs étapes, pas de bouton. Jamais joué devant un vrai portefeuille. Dans le code le bouton s'appelle encore « Révoquer » : « Retirer l'autorisation » est le mot du système de design, et l'écran montré est celui du système de design. Étapes officielles après un vol, lues sur les pages officielles : research/titouan/T_banc_e2e/INCIDENT/INCIDENT_ETAPES.md.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LI.FI, 16 juillet 2024 : 11,6 M$ pris à 153 portefeuilles en approbation illimitée, rien aux approbations finies, selon le rapport de LI.FI (source éditeur). Les victimes avaient choisi l'illimité alors que le défaut était fini. Chiffres sur la slide, pas à l'oral (quatre chiffres seulement).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250 cas (150 arnaques, 100 jumeaux honnêtes), écrits sans lire nos règles, sha256 publié, ouverts une fois le 11 oct. 2026, moteur figé. Signalé = avertissement ou rouge. Code seul : 87,3 % [81,1 ; 91,7], faux rouges 15,0 % [9,3 ; 23,3]. Sans phrase : 64,7 %. Critères publiés avant : rappel au moins 80 % atteint, faux rouges au plus 10 % non atteint. 11 des 15 faux rouges : achat NFT à prix quasi nul. Ces chiffres mesurent le moteur de comparaison côté serveur (blind_decalage/run/chaine/), en Node, pas l'extension livrée : ne jamais dire « l'extension attrape 87 % ». Ne pas citer A11 ni A12 de CHIFFRES.md comme mesure du produit (rejoué sur le build réel : 38,2 % et 9,1 %, preuves/ECARTS_LIVRABLES.md). Limite : auteur de la même famille de modèles que ceux qui nous ont aidés ; cas synthétiques. Ne plus citer le 1,3 %.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testeuse est un agent qui joue une personne prudente, au clavier : 36 parcours, piégée 4 fois en appuyant sur Continuer, actif tout de suite sur « Ça ne correspond pas » (capture réelle de l'extension, coord/reports/testeurs/3_captures/s05_08_f1_continuer_actif.png). Corrigé dans le commit b42792d : le geste attend, la demande expire à 3 minutes. Tests unitaires de l'extension rejoués le 11 oct. à 10h49 sur l'arbre de travail : 225 tests, 213 réussis, 12 en échec ; ne pas citer « 217 tests » sans le rejouer. Sur 58 paires d'essai : 18 contrôlées, 7 en partie, 20 non, 13 non distinguées (EXHAUSTIVITE_INTENTION.md). Hors périmètre : fraude voulue, Ledger direct, téléphone. Jamais essayé avec un vrai MetaMask. Ne pas dire « sécurisé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Modèle : gratuit pour la personne. Paient ceux qui portent la perte : API « verdict avant retrait » pour exchanges et fintechs ; licence SDK pour portefeuilles ; mandats pour agents qui dépensent (prospectif, à 2 ans). Piste étudiée (BM_LABEL.md) : mesurer les plateformes qui ne demandent que le nécessaire ; la mesure est gratuite, publique, et ne s'achète pas. Ne pas dire « certification ». Prix : hypothèses, aucun client. Pilotes recherchés. Promesse de Titouan : cesser de donner plus que nécessaire. Fin d'Adem : on ne sait pas quel site sera piraté, on décide de ce qu'on lui laisse.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HOLDUP">
    <p:bg>
      <p:bgPr>
        <a:solidFill>
          <a:srgbClr val="00000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68172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08080"/>
                </a:solidFill>
                <a:latin typeface="Segoe UI Variable Text"/>
                <a:ea typeface="Segoe UI Variable Text"/>
                <a:cs typeface="Segoe UI Variable Text"/>
              </a:defRPr>
            </a:lvl1pPr>
          </a:lstStyle>
          <a:p>
            <a:pPr algn="r"/>
            <a:fld id="{F7021451-1387-4CA6-816F-3879F97B5CBC}" type="slidenum">
              <a:rPr b="0" lang="en-US"/>
              <a:t>1002</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68172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08080"/>
                </a:solidFill>
                <a:latin typeface="Segoe UI Variable Text"/>
                <a:ea typeface="Segoe UI Variable Text"/>
                <a:cs typeface="Segoe UI Variable Text"/>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2.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457200" y="4663440"/>
            <a:ext cx="7680960" cy="228600"/>
          </a:xfrm>
          <a:prstGeom prst="rect">
            <a:avLst/>
          </a:prstGeom>
          <a:noFill/>
          <a:ln/>
        </p:spPr>
        <p:txBody>
          <a:bodyPr wrap="square" lIns="0" tIns="0" rIns="0" bIns="0" rtlCol="0" anchor="t"/>
          <a:lstStyle/>
          <a:p>
            <a:pPr indent="0" marL="0">
              <a:buNone/>
            </a:pPr>
            <a:r>
              <a:rPr lang="en-US" sz="1000" dirty="0">
                <a:solidFill>
                  <a:srgbClr val="B3B3B3"/>
                </a:solidFill>
                <a:latin typeface="Segoe UI Variable Text" pitchFamily="34" charset="0"/>
                <a:ea typeface="Segoe UI Variable Text" pitchFamily="34" charset="-122"/>
                <a:cs typeface="Segoe UI Variable Text" pitchFamily="34" charset="-120"/>
              </a:rPr>
              <a:t>Dans le dépôt : research/demo_reelle/RECHERCHE_douleurs_secondaires.md, research/titouan/Z_approbations/onchain/result_avax.json</a:t>
            </a:r>
            <a:endParaRPr lang="en-US" sz="1000" dirty="0"/>
          </a:p>
        </p:txBody>
      </p:sp>
      <p:sp>
        <p:nvSpPr>
          <p:cNvPr id="4" name="Text 1"/>
          <p:cNvSpPr txBox="1"/>
          <p:nvPr/>
        </p:nvSpPr>
        <p:spPr>
          <a:xfrm>
            <a:off x="457200" y="685800"/>
            <a:ext cx="8229600" cy="1645920"/>
          </a:xfrm>
          <a:prstGeom prst="rect">
            <a:avLst/>
          </a:prstGeom>
          <a:noFill/>
          <a:ln/>
        </p:spPr>
        <p:txBody>
          <a:bodyPr wrap="square" lIns="0" tIns="0" rIns="0" bIns="0" rtlCol="0" anchor="t"/>
          <a:lstStyle/>
          <a:p>
            <a:pPr indent="0" marL="0">
              <a:buNone/>
            </a:pPr>
            <a:r>
              <a:rPr lang="en-US" sz="11000" dirty="0">
                <a:solidFill>
                  <a:srgbClr val="FFFFFF"/>
                </a:solidFill>
                <a:latin typeface="Segoe UI Variable Text Semibold" pitchFamily="34" charset="0"/>
                <a:ea typeface="Segoe UI Variable Text Semibold" pitchFamily="34" charset="-122"/>
                <a:cs typeface="Segoe UI Variable Text Semibold" pitchFamily="34" charset="-120"/>
              </a:rPr>
              <a:t>81 minutes</a:t>
            </a:r>
            <a:endParaRPr lang="en-US" sz="11000" dirty="0"/>
          </a:p>
        </p:txBody>
      </p:sp>
      <p:sp>
        <p:nvSpPr>
          <p:cNvPr id="5" name="Text 2"/>
          <p:cNvSpPr txBox="1"/>
          <p:nvPr/>
        </p:nvSpPr>
        <p:spPr>
          <a:xfrm>
            <a:off x="457200" y="2606040"/>
            <a:ext cx="8229600" cy="457200"/>
          </a:xfrm>
          <a:prstGeom prst="rect">
            <a:avLst/>
          </a:prstGeom>
          <a:noFill/>
          <a:ln/>
        </p:spPr>
        <p:txBody>
          <a:bodyPr wrap="square" lIns="0" tIns="0" rIns="0" bIns="0" rtlCol="0" anchor="t"/>
          <a:lstStyle/>
          <a:p>
            <a:pPr indent="0" marL="0">
              <a:buNone/>
            </a:pPr>
            <a:r>
              <a:rPr lang="en-US" sz="2000" dirty="0">
                <a:solidFill>
                  <a:srgbClr val="FFFFFF"/>
                </a:solidFill>
                <a:latin typeface="Segoe UI Variable Text Semibold" pitchFamily="34" charset="0"/>
                <a:ea typeface="Segoe UI Variable Text Semibold" pitchFamily="34" charset="-122"/>
                <a:cs typeface="Segoe UI Variable Text Semibold" pitchFamily="34" charset="-120"/>
              </a:rPr>
              <a:t>Aerodrome est piraté. Personne ne le signale pendant 81 minutes.</a:t>
            </a:r>
            <a:endParaRPr lang="en-US" sz="2000" dirty="0"/>
          </a:p>
        </p:txBody>
      </p:sp>
      <p:sp>
        <p:nvSpPr>
          <p:cNvPr id="6" name="Text 3"/>
          <p:cNvSpPr txBox="1"/>
          <p:nvPr/>
        </p:nvSpPr>
        <p:spPr>
          <a:xfrm>
            <a:off x="457200" y="3154680"/>
            <a:ext cx="8229600" cy="365760"/>
          </a:xfrm>
          <a:prstGeom prst="rect">
            <a:avLst/>
          </a:prstGeom>
          <a:noFill/>
          <a:ln/>
        </p:spPr>
        <p:txBody>
          <a:bodyPr wrap="square" lIns="0" tIns="0" rIns="0" bIns="0" rtlCol="0" anchor="t"/>
          <a:lstStyle/>
          <a:p>
            <a:pPr indent="0" marL="0">
              <a:buNone/>
            </a:pPr>
            <a:r>
              <a:rPr lang="en-US" sz="1600" dirty="0">
                <a:solidFill>
                  <a:srgbClr val="B3B3B3"/>
                </a:solidFill>
                <a:latin typeface="Segoe UI Variable Text" pitchFamily="34" charset="0"/>
                <a:ea typeface="Segoe UI Variable Text" pitchFamily="34" charset="-122"/>
                <a:cs typeface="Segoe UI Variable Text" pitchFamily="34" charset="-120"/>
              </a:rPr>
              <a:t>Novembre 2025. Tout service en ligne finira par être piraté.</a:t>
            </a:r>
            <a:endParaRPr lang="en-US" sz="1600" dirty="0"/>
          </a:p>
        </p:txBody>
      </p:sp>
      <p:sp>
        <p:nvSpPr>
          <p:cNvPr id="7" name="Text 4"/>
          <p:cNvSpPr txBox="1"/>
          <p:nvPr/>
        </p:nvSpPr>
        <p:spPr>
          <a:xfrm>
            <a:off x="457200" y="3611880"/>
            <a:ext cx="8229600" cy="365760"/>
          </a:xfrm>
          <a:prstGeom prst="rect">
            <a:avLst/>
          </a:prstGeom>
          <a:noFill/>
          <a:ln/>
        </p:spPr>
        <p:txBody>
          <a:bodyPr wrap="square" lIns="0" tIns="0" rIns="0" bIns="0" rtlCol="0" anchor="t"/>
          <a:lstStyle/>
          <a:p>
            <a:pPr indent="0" marL="0">
              <a:buNone/>
            </a:pPr>
            <a:r>
              <a:rPr lang="en-US" sz="1600" dirty="0">
                <a:solidFill>
                  <a:srgbClr val="B3B3B3"/>
                </a:solidFill>
                <a:latin typeface="Segoe UI Variable Text" pitchFamily="34" charset="0"/>
                <a:ea typeface="Segoe UI Variable Text" pitchFamily="34" charset="-122"/>
                <a:cs typeface="Segoe UI Variable Text" pitchFamily="34" charset="-120"/>
              </a:rPr>
              <a:t>Sur Avalanche, une autorisation sur trois est illimitée.</a:t>
            </a:r>
            <a:endParaRPr lang="en-US" sz="1600" dirty="0"/>
          </a:p>
        </p:txBody>
      </p:sp>
      <p:sp>
        <p:nvSpPr>
          <p:cNvPr id="25" name="Slide Number Placeholder 0"/>
          <p:cNvSpPr>
            <a:spLocks noGrp="1"/>
          </p:cNvSpPr>
          <p:nvPr>
            <p:ph type="sldNum" sz="quarter" idx="4294967295"/>
          </p:nvPr>
        </p:nvSpPr>
        <p:spPr>
          <a:xfrm>
            <a:off x="8229600" y="468172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08080"/>
                </a:solidFill>
                <a:latin typeface="Segoe UI Variable Text"/>
                <a:ea typeface="Segoe UI Variable Text"/>
                <a:cs typeface="Segoe UI Variable Text"/>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457200" y="365760"/>
            <a:ext cx="8229600" cy="548640"/>
          </a:xfrm>
          <a:prstGeom prst="rect">
            <a:avLst/>
          </a:prstGeom>
          <a:noFill/>
          <a:ln/>
        </p:spPr>
        <p:txBody>
          <a:bodyPr wrap="square" lIns="0" tIns="0" rIns="0" bIns="0" rtlCol="0" anchor="t"/>
          <a:lstStyle/>
          <a:p>
            <a:pPr indent="0" marL="0">
              <a:buNone/>
            </a:pPr>
            <a:r>
              <a:rPr lang="en-US" sz="2800" dirty="0">
                <a:solidFill>
                  <a:srgbClr val="FFFFFF"/>
                </a:solidFill>
                <a:latin typeface="Segoe UI Variable Text Semibold" pitchFamily="34" charset="0"/>
                <a:ea typeface="Segoe UI Variable Text Semibold" pitchFamily="34" charset="-122"/>
                <a:cs typeface="Segoe UI Variable Text Semibold" pitchFamily="34" charset="-120"/>
              </a:rPr>
              <a:t>Tu écris. Je compare. Tu décides.</a:t>
            </a:r>
            <a:endParaRPr lang="en-US" sz="2800" dirty="0"/>
          </a:p>
        </p:txBody>
      </p:sp>
      <p:sp>
        <p:nvSpPr>
          <p:cNvPr id="3" name="Text 1"/>
          <p:cNvSpPr txBox="1"/>
          <p:nvPr/>
        </p:nvSpPr>
        <p:spPr>
          <a:xfrm>
            <a:off x="457200" y="4663440"/>
            <a:ext cx="7680960" cy="228600"/>
          </a:xfrm>
          <a:prstGeom prst="rect">
            <a:avLst/>
          </a:prstGeom>
          <a:noFill/>
          <a:ln/>
        </p:spPr>
        <p:txBody>
          <a:bodyPr wrap="square" lIns="0" tIns="0" rIns="0" bIns="0" rtlCol="0" anchor="t"/>
          <a:lstStyle/>
          <a:p>
            <a:pPr indent="0" marL="0">
              <a:buNone/>
            </a:pPr>
            <a:r>
              <a:rPr lang="en-US" sz="1100" dirty="0">
                <a:solidFill>
                  <a:srgbClr val="B3B3B3"/>
                </a:solidFill>
                <a:latin typeface="Segoe UI Variable Text" pitchFamily="34" charset="0"/>
                <a:ea typeface="Segoe UI Variable Text" pitchFamily="34" charset="-122"/>
                <a:cs typeface="Segoe UI Variable Text" pitchFamily="34" charset="-120"/>
              </a:rPr>
              <a:t>Dans le dépôt : docs/design/system/planche.html (écrans du système de design, en cours d’intégration dans l’extension)</a:t>
            </a:r>
            <a:endParaRPr lang="en-US" sz="1100" dirty="0"/>
          </a:p>
        </p:txBody>
      </p:sp>
      <p:pic>
        <p:nvPicPr>
          <p:cNvPr id="5" name="Image 0" descr="C:\Users\Adem\Secure Horizon\docs\design\system\captures\q-frappe.png">    </p:cNvPr>
          <p:cNvPicPr>
            <a:picLocks noChangeAspect="1"/>
          </p:cNvPicPr>
          <p:nvPr/>
        </p:nvPicPr>
        <p:blipFill>
          <a:blip r:embed="rId1"/>
          <a:stretch>
            <a:fillRect/>
          </a:stretch>
        </p:blipFill>
        <p:spPr>
          <a:xfrm>
            <a:off x="457200" y="1097280"/>
            <a:ext cx="2788920" cy="3291840"/>
          </a:xfrm>
          <a:prstGeom prst="rect">
            <a:avLst/>
          </a:prstGeom>
        </p:spPr>
      </p:pic>
      <p:pic>
        <p:nvPicPr>
          <p:cNvPr id="6" name="Image 1" descr="C:\Users\Adem\Secure Horizon\docs\design\system\captures\n-duree.png">    </p:cNvPr>
          <p:cNvPicPr>
            <a:picLocks noChangeAspect="1"/>
          </p:cNvPicPr>
          <p:nvPr/>
        </p:nvPicPr>
        <p:blipFill>
          <a:blip r:embed="rId2"/>
          <a:stretch>
            <a:fillRect/>
          </a:stretch>
        </p:blipFill>
        <p:spPr>
          <a:xfrm>
            <a:off x="3429000" y="1097280"/>
            <a:ext cx="2788920" cy="3291840"/>
          </a:xfrm>
          <a:prstGeom prst="rect">
            <a:avLst/>
          </a:prstGeom>
        </p:spPr>
      </p:pic>
      <p:sp>
        <p:nvSpPr>
          <p:cNvPr id="7" name="Text 2"/>
          <p:cNvSpPr txBox="1"/>
          <p:nvPr/>
        </p:nvSpPr>
        <p:spPr>
          <a:xfrm>
            <a:off x="6492240" y="1097280"/>
            <a:ext cx="2194560" cy="365760"/>
          </a:xfrm>
          <a:prstGeom prst="rect">
            <a:avLst/>
          </a:prstGeom>
          <a:noFill/>
          <a:ln/>
        </p:spPr>
        <p:txBody>
          <a:bodyPr wrap="square" lIns="0" tIns="0" rIns="0" bIns="0" rtlCol="0" anchor="t"/>
          <a:lstStyle/>
          <a:p>
            <a:pPr indent="0" marL="0">
              <a:buNone/>
            </a:pPr>
            <a:r>
              <a:rPr lang="en-US" sz="1800" dirty="0">
                <a:solidFill>
                  <a:srgbClr val="FFFFFF"/>
                </a:solidFill>
                <a:latin typeface="Segoe UI Variable Text Semibold" pitchFamily="34" charset="0"/>
                <a:ea typeface="Segoe UI Variable Text Semibold" pitchFamily="34" charset="-122"/>
                <a:cs typeface="Segoe UI Variable Text Semibold" pitchFamily="34" charset="-120"/>
              </a:rPr>
              <a:t>Tu choisis.</a:t>
            </a:r>
            <a:endParaRPr lang="en-US" sz="1800" dirty="0"/>
          </a:p>
        </p:txBody>
      </p:sp>
      <p:sp>
        <p:nvSpPr>
          <p:cNvPr id="8" name="Text 3"/>
          <p:cNvSpPr txBox="1"/>
          <p:nvPr/>
        </p:nvSpPr>
        <p:spPr>
          <a:xfrm>
            <a:off x="6492240" y="1554480"/>
            <a:ext cx="2194560" cy="1280160"/>
          </a:xfrm>
          <a:prstGeom prst="rect">
            <a:avLst/>
          </a:prstGeom>
          <a:noFill/>
          <a:ln/>
        </p:spPr>
        <p:txBody>
          <a:bodyPr wrap="square" lIns="0" tIns="0" rIns="0" bIns="0" rtlCol="0" anchor="t"/>
          <a:lstStyle/>
          <a:p>
            <a:pPr indent="0" marL="0">
              <a:buNone/>
            </a:pPr>
            <a:r>
              <a:rPr lang="en-US" sz="1600" dirty="0">
                <a:solidFill>
                  <a:srgbClr val="B3B3B3"/>
                </a:solidFill>
                <a:latin typeface="Segoe UI Variable Text" pitchFamily="34" charset="0"/>
                <a:ea typeface="Segoe UI Variable Text" pitchFamily="34" charset="-122"/>
                <a:cs typeface="Segoe UI Variable Text" pitchFamily="34" charset="-120"/>
              </a:rPr>
              <a:t>Ne rien envoyer. Ou limiter l’autorisation à 50 USDC, puis envoyer.</a:t>
            </a:r>
            <a:endParaRPr lang="en-US" sz="1600" dirty="0"/>
          </a:p>
        </p:txBody>
      </p:sp>
      <p:sp>
        <p:nvSpPr>
          <p:cNvPr id="9" name="Text 4"/>
          <p:cNvSpPr txBox="1"/>
          <p:nvPr/>
        </p:nvSpPr>
        <p:spPr>
          <a:xfrm>
            <a:off x="6492240" y="2926080"/>
            <a:ext cx="2194560" cy="457200"/>
          </a:xfrm>
          <a:prstGeom prst="rect">
            <a:avLst/>
          </a:prstGeom>
          <a:noFill/>
          <a:ln/>
        </p:spPr>
        <p:txBody>
          <a:bodyPr wrap="square" lIns="0" tIns="0" rIns="0" bIns="0" rtlCol="0" anchor="t"/>
          <a:lstStyle/>
          <a:p>
            <a:pPr indent="0" marL="0">
              <a:buNone/>
            </a:pPr>
            <a:r>
              <a:rPr lang="en-US" sz="1600" dirty="0">
                <a:solidFill>
                  <a:srgbClr val="B3B3B3"/>
                </a:solidFill>
                <a:latin typeface="Segoe UI Variable Text" pitchFamily="34" charset="0"/>
                <a:ea typeface="Segoe UI Variable Text" pitchFamily="34" charset="-122"/>
                <a:cs typeface="Segoe UI Variable Text" pitchFamily="34" charset="-120"/>
              </a:rPr>
              <a:t>Rien ne part tout seul.</a:t>
            </a:r>
            <a:endParaRPr lang="en-US" sz="1600" dirty="0"/>
          </a:p>
        </p:txBody>
      </p:sp>
      <p:sp>
        <p:nvSpPr>
          <p:cNvPr id="25" name="Slide Number Placeholder 0"/>
          <p:cNvSpPr>
            <a:spLocks noGrp="1"/>
          </p:cNvSpPr>
          <p:nvPr>
            <p:ph type="sldNum" sz="quarter" idx="4294967295"/>
          </p:nvPr>
        </p:nvSpPr>
        <p:spPr>
          <a:xfrm>
            <a:off x="8229600" y="468172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08080"/>
                </a:solidFill>
                <a:latin typeface="Segoe UI Variable Text"/>
                <a:ea typeface="Segoe UI Variable Text"/>
                <a:cs typeface="Segoe UI Variable Text"/>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457200" y="365760"/>
            <a:ext cx="8229600" cy="548640"/>
          </a:xfrm>
          <a:prstGeom prst="rect">
            <a:avLst/>
          </a:prstGeom>
          <a:noFill/>
          <a:ln/>
        </p:spPr>
        <p:txBody>
          <a:bodyPr wrap="square" lIns="0" tIns="0" rIns="0" bIns="0" rtlCol="0" anchor="t"/>
          <a:lstStyle/>
          <a:p>
            <a:pPr indent="0" marL="0">
              <a:buNone/>
            </a:pPr>
            <a:r>
              <a:rPr lang="en-US" sz="2800" dirty="0">
                <a:solidFill>
                  <a:srgbClr val="FFFFFF"/>
                </a:solidFill>
                <a:latin typeface="Segoe UI Variable Text Semibold" pitchFamily="34" charset="0"/>
                <a:ea typeface="Segoe UI Variable Text Semibold" pitchFamily="34" charset="-122"/>
                <a:cs typeface="Segoe UI Variable Text Semibold" pitchFamily="34" charset="-120"/>
              </a:rPr>
              <a:t>Tu échanges 50 USDC. Plus tard, le site est piraté.</a:t>
            </a:r>
            <a:endParaRPr lang="en-US" sz="2800" dirty="0"/>
          </a:p>
        </p:txBody>
      </p:sp>
      <p:sp>
        <p:nvSpPr>
          <p:cNvPr id="3" name="Text 1"/>
          <p:cNvSpPr txBox="1"/>
          <p:nvPr/>
        </p:nvSpPr>
        <p:spPr>
          <a:xfrm>
            <a:off x="457200" y="4663440"/>
            <a:ext cx="7680960" cy="228600"/>
          </a:xfrm>
          <a:prstGeom prst="rect">
            <a:avLst/>
          </a:prstGeom>
          <a:noFill/>
          <a:ln/>
        </p:spPr>
        <p:txBody>
          <a:bodyPr wrap="square" lIns="0" tIns="0" rIns="0" bIns="0" rtlCol="0" anchor="t"/>
          <a:lstStyle/>
          <a:p>
            <a:pPr indent="0" marL="0">
              <a:buNone/>
            </a:pPr>
            <a:r>
              <a:rPr lang="en-US" sz="1100" dirty="0">
                <a:solidFill>
                  <a:srgbClr val="B3B3B3"/>
                </a:solidFill>
                <a:latin typeface="Segoe UI Variable Text" pitchFamily="34" charset="0"/>
                <a:ea typeface="Segoe UI Variable Text" pitchFamily="34" charset="-122"/>
                <a:cs typeface="Segoe UI Variable Text" pitchFamily="34" charset="-120"/>
              </a:rPr>
              <a:t>Dans le dépôt : research/demo_reelle/site_echange/test/preuve_piratage.mjs (chaîne locale, compte de test)</a:t>
            </a:r>
            <a:endParaRPr lang="en-US" sz="1100" dirty="0"/>
          </a:p>
        </p:txBody>
      </p:sp>
      <p:sp>
        <p:nvSpPr>
          <p:cNvPr id="5" name="Text 2"/>
          <p:cNvSpPr txBox="1"/>
          <p:nvPr/>
        </p:nvSpPr>
        <p:spPr>
          <a:xfrm>
            <a:off x="457200" y="1143000"/>
            <a:ext cx="320040" cy="365760"/>
          </a:xfrm>
          <a:prstGeom prst="rect">
            <a:avLst/>
          </a:prstGeom>
          <a:noFill/>
          <a:ln/>
        </p:spPr>
        <p:txBody>
          <a:bodyPr wrap="square" lIns="0" tIns="0" rIns="0" bIns="0" rtlCol="0" anchor="t"/>
          <a:lstStyle/>
          <a:p>
            <a:pPr indent="0" marL="0">
              <a:buNone/>
            </a:pPr>
            <a:r>
              <a:rPr lang="en-US" sz="1800" dirty="0">
                <a:solidFill>
                  <a:srgbClr val="FFFFFF"/>
                </a:solidFill>
                <a:latin typeface="Segoe UI Variable Text Semibold" pitchFamily="34" charset="0"/>
                <a:ea typeface="Segoe UI Variable Text Semibold" pitchFamily="34" charset="-122"/>
                <a:cs typeface="Segoe UI Variable Text Semibold" pitchFamily="34" charset="-120"/>
              </a:rPr>
              <a:t>1</a:t>
            </a:r>
            <a:endParaRPr lang="en-US" sz="1800" dirty="0"/>
          </a:p>
        </p:txBody>
      </p:sp>
      <p:sp>
        <p:nvSpPr>
          <p:cNvPr id="6" name="Text 3"/>
          <p:cNvSpPr txBox="1"/>
          <p:nvPr/>
        </p:nvSpPr>
        <p:spPr>
          <a:xfrm>
            <a:off x="777240" y="1161288"/>
            <a:ext cx="2240280" cy="822960"/>
          </a:xfrm>
          <a:prstGeom prst="rect">
            <a:avLst/>
          </a:prstGeom>
          <a:noFill/>
          <a:ln/>
        </p:spPr>
        <p:txBody>
          <a:bodyPr wrap="square" lIns="0" tIns="0" rIns="0" bIns="0" rtlCol="0" anchor="t"/>
          <a:lstStyle/>
          <a:p>
            <a:pPr indent="0" marL="0">
              <a:buNone/>
            </a:pPr>
            <a:r>
              <a:rPr lang="en-US" sz="1400" dirty="0">
                <a:solidFill>
                  <a:srgbClr val="B3B3B3"/>
                </a:solidFill>
                <a:latin typeface="Segoe UI Variable Text" pitchFamily="34" charset="0"/>
                <a:ea typeface="Segoe UI Variable Text" pitchFamily="34" charset="-122"/>
                <a:cs typeface="Segoe UI Variable Text" pitchFamily="34" charset="-120"/>
              </a:rPr>
              <a:t>Tu as 100 USDC. Tu en échanges 50 sur un site honnête.</a:t>
            </a:r>
            <a:endParaRPr lang="en-US" sz="1400" dirty="0"/>
          </a:p>
        </p:txBody>
      </p:sp>
      <p:sp>
        <p:nvSpPr>
          <p:cNvPr id="7" name="Text 4"/>
          <p:cNvSpPr txBox="1"/>
          <p:nvPr/>
        </p:nvSpPr>
        <p:spPr>
          <a:xfrm>
            <a:off x="3291840" y="1143000"/>
            <a:ext cx="320040" cy="365760"/>
          </a:xfrm>
          <a:prstGeom prst="rect">
            <a:avLst/>
          </a:prstGeom>
          <a:noFill/>
          <a:ln/>
        </p:spPr>
        <p:txBody>
          <a:bodyPr wrap="square" lIns="0" tIns="0" rIns="0" bIns="0" rtlCol="0" anchor="t"/>
          <a:lstStyle/>
          <a:p>
            <a:pPr indent="0" marL="0">
              <a:buNone/>
            </a:pPr>
            <a:r>
              <a:rPr lang="en-US" sz="1800" dirty="0">
                <a:solidFill>
                  <a:srgbClr val="FFFFFF"/>
                </a:solidFill>
                <a:latin typeface="Segoe UI Variable Text Semibold" pitchFamily="34" charset="0"/>
                <a:ea typeface="Segoe UI Variable Text Semibold" pitchFamily="34" charset="-122"/>
                <a:cs typeface="Segoe UI Variable Text Semibold" pitchFamily="34" charset="-120"/>
              </a:rPr>
              <a:t>2</a:t>
            </a:r>
            <a:endParaRPr lang="en-US" sz="1800" dirty="0"/>
          </a:p>
        </p:txBody>
      </p:sp>
      <p:sp>
        <p:nvSpPr>
          <p:cNvPr id="8" name="Text 5"/>
          <p:cNvSpPr txBox="1"/>
          <p:nvPr/>
        </p:nvSpPr>
        <p:spPr>
          <a:xfrm>
            <a:off x="3611880" y="1161288"/>
            <a:ext cx="2240280" cy="822960"/>
          </a:xfrm>
          <a:prstGeom prst="rect">
            <a:avLst/>
          </a:prstGeom>
          <a:noFill/>
          <a:ln/>
        </p:spPr>
        <p:txBody>
          <a:bodyPr wrap="square" lIns="0" tIns="0" rIns="0" bIns="0" rtlCol="0" anchor="t"/>
          <a:lstStyle/>
          <a:p>
            <a:pPr indent="0" marL="0">
              <a:buNone/>
            </a:pPr>
            <a:r>
              <a:rPr lang="en-US" sz="1400" dirty="0">
                <a:solidFill>
                  <a:srgbClr val="B3B3B3"/>
                </a:solidFill>
                <a:latin typeface="Segoe UI Variable Text" pitchFamily="34" charset="0"/>
                <a:ea typeface="Segoe UI Variable Text" pitchFamily="34" charset="-122"/>
                <a:cs typeface="Segoe UI Variable Text" pitchFamily="34" charset="-120"/>
              </a:rPr>
              <a:t>Pour le faire, le site te demande l’accès à tout ton USDC, sans date de fin.</a:t>
            </a:r>
            <a:endParaRPr lang="en-US" sz="1400" dirty="0"/>
          </a:p>
        </p:txBody>
      </p:sp>
      <p:sp>
        <p:nvSpPr>
          <p:cNvPr id="9" name="Text 6"/>
          <p:cNvSpPr txBox="1"/>
          <p:nvPr/>
        </p:nvSpPr>
        <p:spPr>
          <a:xfrm>
            <a:off x="6126480" y="1143000"/>
            <a:ext cx="320040" cy="365760"/>
          </a:xfrm>
          <a:prstGeom prst="rect">
            <a:avLst/>
          </a:prstGeom>
          <a:noFill/>
          <a:ln/>
        </p:spPr>
        <p:txBody>
          <a:bodyPr wrap="square" lIns="0" tIns="0" rIns="0" bIns="0" rtlCol="0" anchor="t"/>
          <a:lstStyle/>
          <a:p>
            <a:pPr indent="0" marL="0">
              <a:buNone/>
            </a:pPr>
            <a:r>
              <a:rPr lang="en-US" sz="1800" dirty="0">
                <a:solidFill>
                  <a:srgbClr val="FFFFFF"/>
                </a:solidFill>
                <a:latin typeface="Segoe UI Variable Text Semibold" pitchFamily="34" charset="0"/>
                <a:ea typeface="Segoe UI Variable Text Semibold" pitchFamily="34" charset="-122"/>
                <a:cs typeface="Segoe UI Variable Text Semibold" pitchFamily="34" charset="-120"/>
              </a:rPr>
              <a:t>3</a:t>
            </a:r>
            <a:endParaRPr lang="en-US" sz="1800" dirty="0"/>
          </a:p>
        </p:txBody>
      </p:sp>
      <p:sp>
        <p:nvSpPr>
          <p:cNvPr id="10" name="Text 7"/>
          <p:cNvSpPr txBox="1"/>
          <p:nvPr/>
        </p:nvSpPr>
        <p:spPr>
          <a:xfrm>
            <a:off x="6446520" y="1161288"/>
            <a:ext cx="2240280" cy="822960"/>
          </a:xfrm>
          <a:prstGeom prst="rect">
            <a:avLst/>
          </a:prstGeom>
          <a:noFill/>
          <a:ln/>
        </p:spPr>
        <p:txBody>
          <a:bodyPr wrap="square" lIns="0" tIns="0" rIns="0" bIns="0" rtlCol="0" anchor="t"/>
          <a:lstStyle/>
          <a:p>
            <a:pPr indent="0" marL="0">
              <a:buNone/>
            </a:pPr>
            <a:r>
              <a:rPr lang="en-US" sz="1400" dirty="0">
                <a:solidFill>
                  <a:srgbClr val="B3B3B3"/>
                </a:solidFill>
                <a:latin typeface="Segoe UI Variable Text" pitchFamily="34" charset="0"/>
                <a:ea typeface="Segoe UI Variable Text" pitchFamily="34" charset="-122"/>
                <a:cs typeface="Segoe UI Variable Text" pitchFamily="34" charset="-120"/>
              </a:rPr>
              <a:t>Plus tard, ce site est piraté. Il te restait 50 USDC.</a:t>
            </a:r>
            <a:endParaRPr lang="en-US" sz="1400" dirty="0"/>
          </a:p>
        </p:txBody>
      </p:sp>
      <p:sp>
        <p:nvSpPr>
          <p:cNvPr id="11" name="Text 8"/>
          <p:cNvSpPr txBox="1"/>
          <p:nvPr/>
        </p:nvSpPr>
        <p:spPr>
          <a:xfrm>
            <a:off x="457200" y="2331720"/>
            <a:ext cx="3840480" cy="320040"/>
          </a:xfrm>
          <a:prstGeom prst="rect">
            <a:avLst/>
          </a:prstGeom>
          <a:noFill/>
          <a:ln/>
        </p:spPr>
        <p:txBody>
          <a:bodyPr wrap="square" lIns="0" tIns="0" rIns="0" bIns="0" rtlCol="0" anchor="t"/>
          <a:lstStyle/>
          <a:p>
            <a:pPr indent="0" marL="0">
              <a:buNone/>
            </a:pPr>
            <a:r>
              <a:rPr lang="en-US" sz="1600" dirty="0">
                <a:solidFill>
                  <a:srgbClr val="B3B3B3"/>
                </a:solidFill>
                <a:latin typeface="Segoe UI Variable Text" pitchFamily="34" charset="0"/>
                <a:ea typeface="Segoe UI Variable Text" pitchFamily="34" charset="-122"/>
                <a:cs typeface="Segoe UI Variable Text" pitchFamily="34" charset="-120"/>
              </a:rPr>
              <a:t>Sans Hold up, il te reste</a:t>
            </a:r>
            <a:endParaRPr lang="en-US" sz="1600" dirty="0"/>
          </a:p>
        </p:txBody>
      </p:sp>
      <p:sp>
        <p:nvSpPr>
          <p:cNvPr id="12" name="Text 9"/>
          <p:cNvSpPr txBox="1"/>
          <p:nvPr/>
        </p:nvSpPr>
        <p:spPr>
          <a:xfrm>
            <a:off x="457200" y="2651760"/>
            <a:ext cx="3931920" cy="914400"/>
          </a:xfrm>
          <a:prstGeom prst="rect">
            <a:avLst/>
          </a:prstGeom>
          <a:noFill/>
          <a:ln/>
        </p:spPr>
        <p:txBody>
          <a:bodyPr wrap="square" lIns="0" tIns="0" rIns="0" bIns="0" rtlCol="0" anchor="t"/>
          <a:lstStyle/>
          <a:p>
            <a:pPr indent="0" marL="0">
              <a:buNone/>
            </a:pPr>
            <a:r>
              <a:rPr lang="en-US" sz="6000" dirty="0">
                <a:solidFill>
                  <a:srgbClr val="FFFFFF"/>
                </a:solidFill>
                <a:latin typeface="Segoe UI Variable Text Semibold" pitchFamily="34" charset="0"/>
                <a:ea typeface="Segoe UI Variable Text Semibold" pitchFamily="34" charset="-122"/>
                <a:cs typeface="Segoe UI Variable Text Semibold" pitchFamily="34" charset="-120"/>
              </a:rPr>
              <a:t>0 USDC</a:t>
            </a:r>
            <a:endParaRPr lang="en-US" sz="6000" dirty="0"/>
          </a:p>
        </p:txBody>
      </p:sp>
      <p:sp>
        <p:nvSpPr>
          <p:cNvPr id="13" name="Text 10"/>
          <p:cNvSpPr txBox="1"/>
          <p:nvPr/>
        </p:nvSpPr>
        <p:spPr>
          <a:xfrm>
            <a:off x="457200" y="3703320"/>
            <a:ext cx="3840480" cy="365760"/>
          </a:xfrm>
          <a:prstGeom prst="rect">
            <a:avLst/>
          </a:prstGeom>
          <a:noFill/>
          <a:ln/>
        </p:spPr>
        <p:txBody>
          <a:bodyPr wrap="square" lIns="0" tIns="0" rIns="0" bIns="0" rtlCol="0" anchor="t"/>
          <a:lstStyle/>
          <a:p>
            <a:pPr indent="0" marL="0">
              <a:buNone/>
            </a:pPr>
            <a:r>
              <a:rPr lang="en-US" sz="1400" dirty="0">
                <a:solidFill>
                  <a:srgbClr val="B3B3B3"/>
                </a:solidFill>
                <a:latin typeface="Segoe UI Variable Text" pitchFamily="34" charset="0"/>
                <a:ea typeface="Segoe UI Variable Text" pitchFamily="34" charset="-122"/>
                <a:cs typeface="Segoe UI Variable Text" pitchFamily="34" charset="-120"/>
              </a:rPr>
              <a:t>Le pirate se sert de l’accès illimité.</a:t>
            </a:r>
            <a:endParaRPr lang="en-US" sz="1400" dirty="0"/>
          </a:p>
        </p:txBody>
      </p:sp>
      <p:sp>
        <p:nvSpPr>
          <p:cNvPr id="14" name="Text 11"/>
          <p:cNvSpPr txBox="1"/>
          <p:nvPr/>
        </p:nvSpPr>
        <p:spPr>
          <a:xfrm>
            <a:off x="4846320" y="2331720"/>
            <a:ext cx="3840480" cy="320040"/>
          </a:xfrm>
          <a:prstGeom prst="rect">
            <a:avLst/>
          </a:prstGeom>
          <a:noFill/>
          <a:ln/>
        </p:spPr>
        <p:txBody>
          <a:bodyPr wrap="square" lIns="0" tIns="0" rIns="0" bIns="0" rtlCol="0" anchor="t"/>
          <a:lstStyle/>
          <a:p>
            <a:pPr indent="0" marL="0">
              <a:buNone/>
            </a:pPr>
            <a:r>
              <a:rPr lang="en-US" sz="1600" dirty="0">
                <a:solidFill>
                  <a:srgbClr val="B3B3B3"/>
                </a:solidFill>
                <a:latin typeface="Segoe UI Variable Text" pitchFamily="34" charset="0"/>
                <a:ea typeface="Segoe UI Variable Text" pitchFamily="34" charset="-122"/>
                <a:cs typeface="Segoe UI Variable Text" pitchFamily="34" charset="-120"/>
              </a:rPr>
              <a:t>Avec Hold up, il te reste</a:t>
            </a:r>
            <a:endParaRPr lang="en-US" sz="1600" dirty="0"/>
          </a:p>
        </p:txBody>
      </p:sp>
      <p:sp>
        <p:nvSpPr>
          <p:cNvPr id="15" name="Text 12"/>
          <p:cNvSpPr txBox="1"/>
          <p:nvPr/>
        </p:nvSpPr>
        <p:spPr>
          <a:xfrm>
            <a:off x="4846320" y="2651760"/>
            <a:ext cx="3931920" cy="914400"/>
          </a:xfrm>
          <a:prstGeom prst="rect">
            <a:avLst/>
          </a:prstGeom>
          <a:noFill/>
          <a:ln/>
        </p:spPr>
        <p:txBody>
          <a:bodyPr wrap="square" lIns="0" tIns="0" rIns="0" bIns="0" rtlCol="0" anchor="t"/>
          <a:lstStyle/>
          <a:p>
            <a:pPr indent="0" marL="0">
              <a:buNone/>
            </a:pPr>
            <a:r>
              <a:rPr lang="en-US" sz="6000" dirty="0">
                <a:solidFill>
                  <a:srgbClr val="FFFFFF"/>
                </a:solidFill>
                <a:latin typeface="Segoe UI Variable Text Semibold" pitchFamily="34" charset="0"/>
                <a:ea typeface="Segoe UI Variable Text Semibold" pitchFamily="34" charset="-122"/>
                <a:cs typeface="Segoe UI Variable Text Semibold" pitchFamily="34" charset="-120"/>
              </a:rPr>
              <a:t>50 USDC</a:t>
            </a:r>
            <a:endParaRPr lang="en-US" sz="6000" dirty="0"/>
          </a:p>
        </p:txBody>
      </p:sp>
      <p:sp>
        <p:nvSpPr>
          <p:cNvPr id="16" name="Text 13"/>
          <p:cNvSpPr txBox="1"/>
          <p:nvPr/>
        </p:nvSpPr>
        <p:spPr>
          <a:xfrm>
            <a:off x="4846320" y="3703320"/>
            <a:ext cx="3840480" cy="548640"/>
          </a:xfrm>
          <a:prstGeom prst="rect">
            <a:avLst/>
          </a:prstGeom>
          <a:noFill/>
          <a:ln/>
        </p:spPr>
        <p:txBody>
          <a:bodyPr wrap="square" lIns="0" tIns="0" rIns="0" bIns="0" rtlCol="0" anchor="t"/>
          <a:lstStyle/>
          <a:p>
            <a:pPr indent="0" marL="0">
              <a:buNone/>
            </a:pPr>
            <a:r>
              <a:rPr lang="en-US" sz="1400" dirty="0">
                <a:solidFill>
                  <a:srgbClr val="B3B3B3"/>
                </a:solidFill>
                <a:latin typeface="Segoe UI Variable Text" pitchFamily="34" charset="0"/>
                <a:ea typeface="Segoe UI Variable Text" pitchFamily="34" charset="-122"/>
                <a:cs typeface="Segoe UI Variable Text" pitchFamily="34" charset="-120"/>
              </a:rPr>
              <a:t>Tu avais limité l’accès aux 50 de l’échange. Il n’y a plus rien à prendre.</a:t>
            </a:r>
            <a:endParaRPr lang="en-US" sz="1400" dirty="0"/>
          </a:p>
        </p:txBody>
      </p:sp>
      <p:sp>
        <p:nvSpPr>
          <p:cNvPr id="25" name="Slide Number Placeholder 0"/>
          <p:cNvSpPr>
            <a:spLocks noGrp="1"/>
          </p:cNvSpPr>
          <p:nvPr>
            <p:ph type="sldNum" sz="quarter" idx="4294967295"/>
          </p:nvPr>
        </p:nvSpPr>
        <p:spPr>
          <a:xfrm>
            <a:off x="8229600" y="468172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08080"/>
                </a:solidFill>
                <a:latin typeface="Segoe UI Variable Text"/>
                <a:ea typeface="Segoe UI Variable Text"/>
                <a:cs typeface="Segoe UI Variable Text"/>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457200" y="365760"/>
            <a:ext cx="5120640" cy="548640"/>
          </a:xfrm>
          <a:prstGeom prst="rect">
            <a:avLst/>
          </a:prstGeom>
          <a:noFill/>
          <a:ln/>
        </p:spPr>
        <p:txBody>
          <a:bodyPr wrap="square" lIns="0" tIns="0" rIns="0" bIns="0" rtlCol="0" anchor="t"/>
          <a:lstStyle/>
          <a:p>
            <a:pPr indent="0" marL="0">
              <a:buNone/>
            </a:pPr>
            <a:r>
              <a:rPr lang="en-US" sz="2800" dirty="0">
                <a:solidFill>
                  <a:srgbClr val="FFFFFF"/>
                </a:solidFill>
                <a:latin typeface="Segoe UI Variable Text Semibold" pitchFamily="34" charset="0"/>
                <a:ea typeface="Segoe UI Variable Text Semibold" pitchFamily="34" charset="-122"/>
                <a:cs typeface="Segoe UI Variable Text Semibold" pitchFamily="34" charset="-120"/>
              </a:rPr>
              <a:t>Une autorisation déjà donnée ?</a:t>
            </a:r>
            <a:endParaRPr lang="en-US" sz="2800" dirty="0"/>
          </a:p>
          <a:p>
            <a:pPr indent="0" marL="0">
              <a:buNone/>
            </a:pPr>
            <a:r>
              <a:rPr lang="en-US" sz="2800" dirty="0">
                <a:solidFill>
                  <a:srgbClr val="FFFFFF"/>
                </a:solidFill>
                <a:latin typeface="Segoe UI Variable Text Semibold" pitchFamily="34" charset="0"/>
                <a:ea typeface="Segoe UI Variable Text Semibold" pitchFamily="34" charset="-122"/>
                <a:cs typeface="Segoe UI Variable Text Semibold" pitchFamily="34" charset="-120"/>
              </a:rPr>
              <a:t>Tu la retires.</a:t>
            </a:r>
            <a:endParaRPr lang="en-US" sz="2800" dirty="0"/>
          </a:p>
        </p:txBody>
      </p:sp>
      <p:sp>
        <p:nvSpPr>
          <p:cNvPr id="3" name="Text 1"/>
          <p:cNvSpPr txBox="1"/>
          <p:nvPr/>
        </p:nvSpPr>
        <p:spPr>
          <a:xfrm>
            <a:off x="457200" y="4663440"/>
            <a:ext cx="7680960" cy="228600"/>
          </a:xfrm>
          <a:prstGeom prst="rect">
            <a:avLst/>
          </a:prstGeom>
          <a:noFill/>
          <a:ln/>
        </p:spPr>
        <p:txBody>
          <a:bodyPr wrap="square" lIns="0" tIns="0" rIns="0" bIns="0" rtlCol="0" anchor="t"/>
          <a:lstStyle/>
          <a:p>
            <a:pPr indent="0" marL="0">
              <a:buNone/>
            </a:pPr>
            <a:r>
              <a:rPr lang="en-US" sz="1100" dirty="0">
                <a:solidFill>
                  <a:srgbClr val="B3B3B3"/>
                </a:solidFill>
                <a:latin typeface="Segoe UI Variable Text" pitchFamily="34" charset="0"/>
                <a:ea typeface="Segoe UI Variable Text" pitchFamily="34" charset="-122"/>
                <a:cs typeface="Segoe UI Variable Text" pitchFamily="34" charset="-120"/>
              </a:rPr>
              <a:t>Dans le dépôt : research/titouan/T_banc_e2e/extension/revoke.js, tests/unit/revoke.test.mjs</a:t>
            </a:r>
            <a:endParaRPr lang="en-US" sz="1100" dirty="0"/>
          </a:p>
        </p:txBody>
      </p:sp>
      <p:sp>
        <p:nvSpPr>
          <p:cNvPr id="5" name="Text 2"/>
          <p:cNvSpPr txBox="1"/>
          <p:nvPr/>
        </p:nvSpPr>
        <p:spPr>
          <a:xfrm>
            <a:off x="457200" y="1600200"/>
            <a:ext cx="4754880" cy="822960"/>
          </a:xfrm>
          <a:prstGeom prst="rect">
            <a:avLst/>
          </a:prstGeom>
          <a:noFill/>
          <a:ln/>
        </p:spPr>
        <p:txBody>
          <a:bodyPr wrap="square" lIns="0" tIns="0" rIns="0" bIns="0" rtlCol="0" anchor="t"/>
          <a:lstStyle/>
          <a:p>
            <a:pPr indent="0" marL="0">
              <a:buNone/>
            </a:pPr>
            <a:r>
              <a:rPr lang="en-US" sz="1800" dirty="0">
                <a:solidFill>
                  <a:srgbClr val="B3B3B3"/>
                </a:solidFill>
                <a:latin typeface="Segoe UI Variable Text" pitchFamily="34" charset="0"/>
                <a:ea typeface="Segoe UI Variable Text" pitchFamily="34" charset="-122"/>
                <a:cs typeface="Segoe UI Variable Text" pitchFamily="34" charset="-120"/>
              </a:rPr>
              <a:t>Je prépare le retrait. Ton portefeuille le signe. Hold up ne signe jamais.</a:t>
            </a:r>
            <a:endParaRPr lang="en-US" sz="1800" dirty="0"/>
          </a:p>
        </p:txBody>
      </p:sp>
      <p:sp>
        <p:nvSpPr>
          <p:cNvPr id="6" name="Text 3"/>
          <p:cNvSpPr txBox="1"/>
          <p:nvPr/>
        </p:nvSpPr>
        <p:spPr>
          <a:xfrm>
            <a:off x="457200" y="3977640"/>
            <a:ext cx="4754880" cy="365760"/>
          </a:xfrm>
          <a:prstGeom prst="rect">
            <a:avLst/>
          </a:prstGeom>
          <a:noFill/>
          <a:ln/>
        </p:spPr>
        <p:txBody>
          <a:bodyPr wrap="square" lIns="0" tIns="0" rIns="0" bIns="0" rtlCol="0" anchor="t"/>
          <a:lstStyle/>
          <a:p>
            <a:pPr indent="0" marL="0">
              <a:buNone/>
            </a:pPr>
            <a:r>
              <a:rPr lang="en-US" sz="1600" dirty="0">
                <a:solidFill>
                  <a:srgbClr val="B3B3B3"/>
                </a:solidFill>
                <a:latin typeface="Segoe UI Variable Text" pitchFamily="34" charset="0"/>
                <a:ea typeface="Segoe UI Variable Text" pitchFamily="34" charset="-122"/>
                <a:cs typeface="Segoe UI Variable Text" pitchFamily="34" charset="-120"/>
              </a:rPr>
              <a:t>Jamais joué devant un vrai portefeuille.</a:t>
            </a:r>
            <a:endParaRPr lang="en-US" sz="1600" dirty="0"/>
          </a:p>
        </p:txBody>
      </p:sp>
      <p:pic>
        <p:nvPicPr>
          <p:cNvPr id="7" name="Image 0" descr="C:\Users\Adem\Secure Horizon\docs\design\system\captures\pan-ouvert_sombre.png">    </p:cNvPr>
          <p:cNvPicPr>
            <a:picLocks noChangeAspect="1"/>
          </p:cNvPicPr>
          <p:nvPr/>
        </p:nvPicPr>
        <p:blipFill>
          <a:blip r:embed="rId1"/>
          <a:stretch>
            <a:fillRect/>
          </a:stretch>
        </p:blipFill>
        <p:spPr>
          <a:xfrm>
            <a:off x="6035040" y="365760"/>
            <a:ext cx="2185416" cy="4114800"/>
          </a:xfrm>
          <a:prstGeom prst="rect">
            <a:avLst/>
          </a:prstGeom>
        </p:spPr>
      </p:pic>
      <p:sp>
        <p:nvSpPr>
          <p:cNvPr id="25" name="Slide Number Placeholder 0"/>
          <p:cNvSpPr>
            <a:spLocks noGrp="1"/>
          </p:cNvSpPr>
          <p:nvPr>
            <p:ph type="sldNum" sz="quarter" idx="4294967295"/>
          </p:nvPr>
        </p:nvSpPr>
        <p:spPr>
          <a:xfrm>
            <a:off x="8229600" y="468172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08080"/>
                </a:solidFill>
                <a:latin typeface="Segoe UI Variable Text"/>
                <a:ea typeface="Segoe UI Variable Text"/>
                <a:cs typeface="Segoe UI Variable Text"/>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457200" y="365760"/>
            <a:ext cx="8229600" cy="548640"/>
          </a:xfrm>
          <a:prstGeom prst="rect">
            <a:avLst/>
          </a:prstGeom>
          <a:noFill/>
          <a:ln/>
        </p:spPr>
        <p:txBody>
          <a:bodyPr wrap="square" lIns="0" tIns="0" rIns="0" bIns="0" rtlCol="0" anchor="t"/>
          <a:lstStyle/>
          <a:p>
            <a:pPr indent="0" marL="0">
              <a:buNone/>
            </a:pPr>
            <a:r>
              <a:rPr lang="en-US" sz="2800" dirty="0">
                <a:solidFill>
                  <a:srgbClr val="FFFFFF"/>
                </a:solidFill>
                <a:latin typeface="Segoe UI Variable Text Semibold" pitchFamily="34" charset="0"/>
                <a:ea typeface="Segoe UI Variable Text Semibold" pitchFamily="34" charset="-122"/>
                <a:cs typeface="Segoe UI Variable Text Semibold" pitchFamily="34" charset="-120"/>
              </a:rPr>
              <a:t>C’est déjà arrivé : LI.FI, juillet 2024</a:t>
            </a:r>
            <a:endParaRPr lang="en-US" sz="2800" dirty="0"/>
          </a:p>
        </p:txBody>
      </p:sp>
      <p:sp>
        <p:nvSpPr>
          <p:cNvPr id="3" name="Text 1"/>
          <p:cNvSpPr txBox="1"/>
          <p:nvPr/>
        </p:nvSpPr>
        <p:spPr>
          <a:xfrm>
            <a:off x="457200" y="4663440"/>
            <a:ext cx="7680960" cy="228600"/>
          </a:xfrm>
          <a:prstGeom prst="rect">
            <a:avLst/>
          </a:prstGeom>
          <a:noFill/>
          <a:ln/>
        </p:spPr>
        <p:txBody>
          <a:bodyPr wrap="square" lIns="0" tIns="0" rIns="0" bIns="0" rtlCol="0" anchor="t"/>
          <a:lstStyle/>
          <a:p>
            <a:pPr indent="0" marL="0">
              <a:buNone/>
            </a:pPr>
            <a:r>
              <a:rPr lang="en-US" sz="1100" dirty="0">
                <a:solidFill>
                  <a:srgbClr val="B3B3B3"/>
                </a:solidFill>
                <a:latin typeface="Segoe UI Variable Text" pitchFamily="34" charset="0"/>
                <a:ea typeface="Segoe UI Variable Text" pitchFamily="34" charset="-122"/>
                <a:cs typeface="Segoe UI Variable Text" pitchFamily="34" charset="-120"/>
              </a:rPr>
              <a:t>Dans le dépôt : livrables/CHIFFRES.md, ligne B7. Rapport : li.fi/knowledge-hub/incident-report-16th-july</a:t>
            </a:r>
            <a:endParaRPr lang="en-US" sz="1100" dirty="0"/>
          </a:p>
        </p:txBody>
      </p:sp>
      <p:sp>
        <p:nvSpPr>
          <p:cNvPr id="5" name="Text 2"/>
          <p:cNvSpPr txBox="1"/>
          <p:nvPr/>
        </p:nvSpPr>
        <p:spPr>
          <a:xfrm>
            <a:off x="457200" y="1463040"/>
            <a:ext cx="3931920" cy="365760"/>
          </a:xfrm>
          <a:prstGeom prst="rect">
            <a:avLst/>
          </a:prstGeom>
          <a:noFill/>
          <a:ln/>
        </p:spPr>
        <p:txBody>
          <a:bodyPr wrap="square" lIns="0" tIns="0" rIns="0" bIns="0" rtlCol="0" anchor="t"/>
          <a:lstStyle/>
          <a:p>
            <a:pPr indent="0" marL="0">
              <a:buNone/>
            </a:pPr>
            <a:r>
              <a:rPr lang="en-US" sz="1600" dirty="0">
                <a:solidFill>
                  <a:srgbClr val="B3B3B3"/>
                </a:solidFill>
                <a:latin typeface="Segoe UI Variable Text" pitchFamily="34" charset="0"/>
                <a:ea typeface="Segoe UI Variable Text" pitchFamily="34" charset="-122"/>
                <a:cs typeface="Segoe UI Variable Text" pitchFamily="34" charset="-120"/>
              </a:rPr>
              <a:t>Autorisations illimitées</a:t>
            </a:r>
            <a:endParaRPr lang="en-US" sz="1600" dirty="0"/>
          </a:p>
        </p:txBody>
      </p:sp>
      <p:sp>
        <p:nvSpPr>
          <p:cNvPr id="6" name="Text 3"/>
          <p:cNvSpPr txBox="1"/>
          <p:nvPr/>
        </p:nvSpPr>
        <p:spPr>
          <a:xfrm>
            <a:off x="457200" y="1828800"/>
            <a:ext cx="3931920" cy="1188720"/>
          </a:xfrm>
          <a:prstGeom prst="rect">
            <a:avLst/>
          </a:prstGeom>
          <a:noFill/>
          <a:ln/>
        </p:spPr>
        <p:txBody>
          <a:bodyPr wrap="square" lIns="0" tIns="0" rIns="0" bIns="0" rtlCol="0" anchor="t"/>
          <a:lstStyle/>
          <a:p>
            <a:pPr indent="0" marL="0">
              <a:buNone/>
            </a:pPr>
            <a:r>
              <a:rPr lang="en-US" sz="6000" dirty="0">
                <a:solidFill>
                  <a:srgbClr val="FFFFFF"/>
                </a:solidFill>
                <a:latin typeface="Segoe UI Variable Text Semibold" pitchFamily="34" charset="0"/>
                <a:ea typeface="Segoe UI Variable Text Semibold" pitchFamily="34" charset="-122"/>
                <a:cs typeface="Segoe UI Variable Text Semibold" pitchFamily="34" charset="-120"/>
              </a:rPr>
              <a:t>vidées</a:t>
            </a:r>
            <a:endParaRPr lang="en-US" sz="6000" dirty="0"/>
          </a:p>
        </p:txBody>
      </p:sp>
      <p:sp>
        <p:nvSpPr>
          <p:cNvPr id="7" name="Text 4"/>
          <p:cNvSpPr txBox="1"/>
          <p:nvPr/>
        </p:nvSpPr>
        <p:spPr>
          <a:xfrm>
            <a:off x="4846320" y="1463040"/>
            <a:ext cx="3840480" cy="365760"/>
          </a:xfrm>
          <a:prstGeom prst="rect">
            <a:avLst/>
          </a:prstGeom>
          <a:noFill/>
          <a:ln/>
        </p:spPr>
        <p:txBody>
          <a:bodyPr wrap="square" lIns="0" tIns="0" rIns="0" bIns="0" rtlCol="0" anchor="t"/>
          <a:lstStyle/>
          <a:p>
            <a:pPr indent="0" marL="0">
              <a:buNone/>
            </a:pPr>
            <a:r>
              <a:rPr lang="en-US" sz="1600" dirty="0">
                <a:solidFill>
                  <a:srgbClr val="B3B3B3"/>
                </a:solidFill>
                <a:latin typeface="Segoe UI Variable Text" pitchFamily="34" charset="0"/>
                <a:ea typeface="Segoe UI Variable Text" pitchFamily="34" charset="-122"/>
                <a:cs typeface="Segoe UI Variable Text" pitchFamily="34" charset="-120"/>
              </a:rPr>
              <a:t>Autorisations limitées</a:t>
            </a:r>
            <a:endParaRPr lang="en-US" sz="1600" dirty="0"/>
          </a:p>
        </p:txBody>
      </p:sp>
      <p:sp>
        <p:nvSpPr>
          <p:cNvPr id="8" name="Text 5"/>
          <p:cNvSpPr txBox="1"/>
          <p:nvPr/>
        </p:nvSpPr>
        <p:spPr>
          <a:xfrm>
            <a:off x="4846320" y="1828800"/>
            <a:ext cx="3931920" cy="1188720"/>
          </a:xfrm>
          <a:prstGeom prst="rect">
            <a:avLst/>
          </a:prstGeom>
          <a:noFill/>
          <a:ln/>
        </p:spPr>
        <p:txBody>
          <a:bodyPr wrap="square" lIns="0" tIns="0" rIns="0" bIns="0" rtlCol="0" anchor="t"/>
          <a:lstStyle/>
          <a:p>
            <a:pPr indent="0" marL="0">
              <a:buNone/>
            </a:pPr>
            <a:r>
              <a:rPr lang="en-US" sz="6000" dirty="0">
                <a:solidFill>
                  <a:srgbClr val="FFFFFF"/>
                </a:solidFill>
                <a:latin typeface="Segoe UI Variable Text Semibold" pitchFamily="34" charset="0"/>
                <a:ea typeface="Segoe UI Variable Text Semibold" pitchFamily="34" charset="-122"/>
                <a:cs typeface="Segoe UI Variable Text Semibold" pitchFamily="34" charset="-120"/>
              </a:rPr>
              <a:t>rien perdu</a:t>
            </a:r>
            <a:endParaRPr lang="en-US" sz="6000" dirty="0"/>
          </a:p>
        </p:txBody>
      </p:sp>
      <p:sp>
        <p:nvSpPr>
          <p:cNvPr id="9" name="Text 6"/>
          <p:cNvSpPr txBox="1"/>
          <p:nvPr/>
        </p:nvSpPr>
        <p:spPr>
          <a:xfrm>
            <a:off x="457200" y="3474720"/>
            <a:ext cx="8229600" cy="365760"/>
          </a:xfrm>
          <a:prstGeom prst="rect">
            <a:avLst/>
          </a:prstGeom>
          <a:noFill/>
          <a:ln/>
        </p:spPr>
        <p:txBody>
          <a:bodyPr wrap="square" lIns="0" tIns="0" rIns="0" bIns="0" rtlCol="0" anchor="t"/>
          <a:lstStyle/>
          <a:p>
            <a:pPr indent="0" marL="0">
              <a:buNone/>
            </a:pPr>
            <a:r>
              <a:rPr lang="en-US" sz="1600" dirty="0">
                <a:solidFill>
                  <a:srgbClr val="B3B3B3"/>
                </a:solidFill>
                <a:latin typeface="Segoe UI Variable Text" pitchFamily="34" charset="0"/>
                <a:ea typeface="Segoe UI Variable Text" pitchFamily="34" charset="-122"/>
                <a:cs typeface="Segoe UI Variable Text" pitchFamily="34" charset="-120"/>
              </a:rPr>
              <a:t>153 portefeuilles, 11,6 M$, selon le rapport de LI.FI.</a:t>
            </a:r>
            <a:endParaRPr lang="en-US" sz="1600" dirty="0"/>
          </a:p>
        </p:txBody>
      </p:sp>
      <p:sp>
        <p:nvSpPr>
          <p:cNvPr id="25" name="Slide Number Placeholder 0"/>
          <p:cNvSpPr>
            <a:spLocks noGrp="1"/>
          </p:cNvSpPr>
          <p:nvPr>
            <p:ph type="sldNum" sz="quarter" idx="4294967295"/>
          </p:nvPr>
        </p:nvSpPr>
        <p:spPr>
          <a:xfrm>
            <a:off x="8229600" y="468172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08080"/>
                </a:solidFill>
                <a:latin typeface="Segoe UI Variable Text"/>
                <a:ea typeface="Segoe UI Variable Text"/>
                <a:cs typeface="Segoe UI Variable Text"/>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457200" y="365760"/>
            <a:ext cx="8229600" cy="548640"/>
          </a:xfrm>
          <a:prstGeom prst="rect">
            <a:avLst/>
          </a:prstGeom>
          <a:noFill/>
          <a:ln/>
        </p:spPr>
        <p:txBody>
          <a:bodyPr wrap="square" lIns="0" tIns="0" rIns="0" bIns="0" rtlCol="0" anchor="t"/>
          <a:lstStyle/>
          <a:p>
            <a:pPr indent="0" marL="0">
              <a:buNone/>
            </a:pPr>
            <a:r>
              <a:rPr lang="en-US" sz="2800" dirty="0">
                <a:solidFill>
                  <a:srgbClr val="FFFFFF"/>
                </a:solidFill>
                <a:latin typeface="Segoe UI Variable Text Semibold" pitchFamily="34" charset="0"/>
                <a:ea typeface="Segoe UI Variable Text Semibold" pitchFamily="34" charset="-122"/>
                <a:cs typeface="Segoe UI Variable Text Semibold" pitchFamily="34" charset="-120"/>
              </a:rPr>
              <a:t>Jeu aveugle : 250 cas, moteur de comparaison</a:t>
            </a:r>
            <a:endParaRPr lang="en-US" sz="2800" dirty="0"/>
          </a:p>
        </p:txBody>
      </p:sp>
      <p:sp>
        <p:nvSpPr>
          <p:cNvPr id="3" name="Text 1"/>
          <p:cNvSpPr txBox="1"/>
          <p:nvPr/>
        </p:nvSpPr>
        <p:spPr>
          <a:xfrm>
            <a:off x="457200" y="4663440"/>
            <a:ext cx="7680960" cy="228600"/>
          </a:xfrm>
          <a:prstGeom prst="rect">
            <a:avLst/>
          </a:prstGeom>
          <a:noFill/>
          <a:ln/>
        </p:spPr>
        <p:txBody>
          <a:bodyPr wrap="square" lIns="0" tIns="0" rIns="0" bIns="0" rtlCol="0" anchor="t"/>
          <a:lstStyle/>
          <a:p>
            <a:pPr indent="0" marL="0">
              <a:buNone/>
            </a:pPr>
            <a:r>
              <a:rPr lang="en-US" sz="1100" dirty="0">
                <a:solidFill>
                  <a:srgbClr val="B3B3B3"/>
                </a:solidFill>
                <a:latin typeface="Segoe UI Variable Text" pitchFamily="34" charset="0"/>
                <a:ea typeface="Segoe UI Variable Text" pitchFamily="34" charset="-122"/>
                <a:cs typeface="Segoe UI Variable Text" pitchFamily="34" charset="-120"/>
              </a:rPr>
              <a:t>Dans le dépôt : research/titouan/T_banc_e2e/blind_decalage/run/RESULTAT.md, preuves/ECARTS_LIVRABLES.md</a:t>
            </a:r>
            <a:endParaRPr lang="en-US" sz="1100" dirty="0"/>
          </a:p>
        </p:txBody>
      </p:sp>
      <p:sp>
        <p:nvSpPr>
          <p:cNvPr id="5" name="Text 2"/>
          <p:cNvSpPr txBox="1"/>
          <p:nvPr/>
        </p:nvSpPr>
        <p:spPr>
          <a:xfrm>
            <a:off x="457200" y="1188720"/>
            <a:ext cx="8229600" cy="320040"/>
          </a:xfrm>
          <a:prstGeom prst="rect">
            <a:avLst/>
          </a:prstGeom>
          <a:noFill/>
          <a:ln/>
        </p:spPr>
        <p:txBody>
          <a:bodyPr wrap="square" lIns="0" tIns="0" rIns="0" bIns="0" rtlCol="0" anchor="t"/>
          <a:lstStyle/>
          <a:p>
            <a:pPr indent="0" marL="0">
              <a:buNone/>
            </a:pPr>
            <a:r>
              <a:rPr lang="en-US" sz="1400" dirty="0">
                <a:solidFill>
                  <a:srgbClr val="B3B3B3"/>
                </a:solidFill>
                <a:latin typeface="Segoe UI Variable Text" pitchFamily="34" charset="0"/>
                <a:ea typeface="Segoe UI Variable Text" pitchFamily="34" charset="-122"/>
                <a:cs typeface="Segoe UI Variable Text" pitchFamily="34" charset="-120"/>
              </a:rPr>
              <a:t>Arnaques signalées</a:t>
            </a:r>
            <a:endParaRPr lang="en-US" sz="1400" dirty="0"/>
          </a:p>
        </p:txBody>
      </p:sp>
      <p:sp>
        <p:nvSpPr>
          <p:cNvPr id="6" name="Text 3"/>
          <p:cNvSpPr txBox="1"/>
          <p:nvPr/>
        </p:nvSpPr>
        <p:spPr>
          <a:xfrm>
            <a:off x="457200" y="1554480"/>
            <a:ext cx="2377440" cy="457200"/>
          </a:xfrm>
          <a:prstGeom prst="rect">
            <a:avLst/>
          </a:prstGeom>
          <a:noFill/>
          <a:ln/>
        </p:spPr>
        <p:txBody>
          <a:bodyPr wrap="square" lIns="0" tIns="0" rIns="0" bIns="0" rtlCol="0" anchor="ctr"/>
          <a:lstStyle/>
          <a:p>
            <a:pPr indent="0" marL="0">
              <a:buNone/>
            </a:pPr>
            <a:r>
              <a:rPr lang="en-US" sz="1600" dirty="0">
                <a:solidFill>
                  <a:srgbClr val="B3B3B3"/>
                </a:solidFill>
                <a:latin typeface="Segoe UI Variable Text" pitchFamily="34" charset="0"/>
                <a:ea typeface="Segoe UI Variable Text" pitchFamily="34" charset="-122"/>
                <a:cs typeface="Segoe UI Variable Text" pitchFamily="34" charset="-120"/>
              </a:rPr>
              <a:t>Sans la phrase</a:t>
            </a:r>
            <a:endParaRPr lang="en-US" sz="1600" dirty="0"/>
          </a:p>
        </p:txBody>
      </p:sp>
      <p:sp>
        <p:nvSpPr>
          <p:cNvPr id="7" name="Shape 4"/>
          <p:cNvSpPr/>
          <p:nvPr/>
        </p:nvSpPr>
        <p:spPr>
          <a:xfrm>
            <a:off x="2926080" y="1609344"/>
            <a:ext cx="2958084" cy="347472"/>
          </a:xfrm>
          <a:prstGeom prst="rect">
            <a:avLst/>
          </a:prstGeom>
          <a:solidFill>
            <a:srgbClr val="808080"/>
          </a:solidFill>
          <a:ln w="12700">
            <a:solidFill>
              <a:srgbClr val="808080"/>
            </a:solidFill>
            <a:prstDash val="solid"/>
          </a:ln>
        </p:spPr>
      </p:sp>
      <p:sp>
        <p:nvSpPr>
          <p:cNvPr id="8" name="Text 5"/>
          <p:cNvSpPr txBox="1"/>
          <p:nvPr/>
        </p:nvSpPr>
        <p:spPr>
          <a:xfrm>
            <a:off x="6021324" y="1554480"/>
            <a:ext cx="1280160" cy="457200"/>
          </a:xfrm>
          <a:prstGeom prst="rect">
            <a:avLst/>
          </a:prstGeom>
          <a:noFill/>
          <a:ln/>
        </p:spPr>
        <p:txBody>
          <a:bodyPr wrap="square" lIns="0" tIns="0" rIns="0" bIns="0" rtlCol="0" anchor="ctr"/>
          <a:lstStyle/>
          <a:p>
            <a:pPr indent="0" marL="0">
              <a:buNone/>
            </a:pPr>
            <a:r>
              <a:rPr lang="en-US" sz="2600" dirty="0">
                <a:solidFill>
                  <a:srgbClr val="808080"/>
                </a:solidFill>
                <a:latin typeface="Segoe UI Variable Text Semibold" pitchFamily="34" charset="0"/>
                <a:ea typeface="Segoe UI Variable Text Semibold" pitchFamily="34" charset="-122"/>
                <a:cs typeface="Segoe UI Variable Text Semibold" pitchFamily="34" charset="-120"/>
              </a:rPr>
              <a:t>65 %</a:t>
            </a:r>
            <a:endParaRPr lang="en-US" sz="2600" dirty="0"/>
          </a:p>
        </p:txBody>
      </p:sp>
      <p:sp>
        <p:nvSpPr>
          <p:cNvPr id="9" name="Text 6"/>
          <p:cNvSpPr txBox="1"/>
          <p:nvPr/>
        </p:nvSpPr>
        <p:spPr>
          <a:xfrm>
            <a:off x="457200" y="2057400"/>
            <a:ext cx="2377440" cy="457200"/>
          </a:xfrm>
          <a:prstGeom prst="rect">
            <a:avLst/>
          </a:prstGeom>
          <a:noFill/>
          <a:ln/>
        </p:spPr>
        <p:txBody>
          <a:bodyPr wrap="square" lIns="0" tIns="0" rIns="0" bIns="0" rtlCol="0" anchor="ctr"/>
          <a:lstStyle/>
          <a:p>
            <a:pPr indent="0" marL="0">
              <a:buNone/>
            </a:pPr>
            <a:r>
              <a:rPr lang="en-US" sz="1600" dirty="0">
                <a:solidFill>
                  <a:srgbClr val="B3B3B3"/>
                </a:solidFill>
                <a:latin typeface="Segoe UI Variable Text" pitchFamily="34" charset="0"/>
                <a:ea typeface="Segoe UI Variable Text" pitchFamily="34" charset="-122"/>
                <a:cs typeface="Segoe UI Variable Text" pitchFamily="34" charset="-120"/>
              </a:rPr>
              <a:t>Avec la phrase</a:t>
            </a:r>
            <a:endParaRPr lang="en-US" sz="1600" dirty="0"/>
          </a:p>
        </p:txBody>
      </p:sp>
      <p:sp>
        <p:nvSpPr>
          <p:cNvPr id="10" name="Shape 7"/>
          <p:cNvSpPr/>
          <p:nvPr/>
        </p:nvSpPr>
        <p:spPr>
          <a:xfrm>
            <a:off x="2926080" y="2112264"/>
            <a:ext cx="3991356" cy="347472"/>
          </a:xfrm>
          <a:prstGeom prst="rect">
            <a:avLst/>
          </a:prstGeom>
          <a:solidFill>
            <a:srgbClr val="FFFFFF"/>
          </a:solidFill>
          <a:ln w="12700">
            <a:solidFill>
              <a:srgbClr val="FFFFFF"/>
            </a:solidFill>
            <a:prstDash val="solid"/>
          </a:ln>
        </p:spPr>
      </p:sp>
      <p:sp>
        <p:nvSpPr>
          <p:cNvPr id="11" name="Text 8"/>
          <p:cNvSpPr txBox="1"/>
          <p:nvPr/>
        </p:nvSpPr>
        <p:spPr>
          <a:xfrm>
            <a:off x="7054596" y="2057400"/>
            <a:ext cx="1280160" cy="457200"/>
          </a:xfrm>
          <a:prstGeom prst="rect">
            <a:avLst/>
          </a:prstGeom>
          <a:noFill/>
          <a:ln/>
        </p:spPr>
        <p:txBody>
          <a:bodyPr wrap="square" lIns="0" tIns="0" rIns="0" bIns="0" rtlCol="0" anchor="ctr"/>
          <a:lstStyle/>
          <a:p>
            <a:pPr indent="0" marL="0">
              <a:buNone/>
            </a:pPr>
            <a:r>
              <a:rPr lang="en-US" sz="2600" dirty="0">
                <a:solidFill>
                  <a:srgbClr val="FFFFFF"/>
                </a:solidFill>
                <a:latin typeface="Segoe UI Variable Text Semibold" pitchFamily="34" charset="0"/>
                <a:ea typeface="Segoe UI Variable Text Semibold" pitchFamily="34" charset="-122"/>
                <a:cs typeface="Segoe UI Variable Text Semibold" pitchFamily="34" charset="-120"/>
              </a:rPr>
              <a:t>87 %</a:t>
            </a:r>
            <a:endParaRPr lang="en-US" sz="2600" dirty="0"/>
          </a:p>
        </p:txBody>
      </p:sp>
      <p:sp>
        <p:nvSpPr>
          <p:cNvPr id="12" name="Text 9"/>
          <p:cNvSpPr txBox="1"/>
          <p:nvPr/>
        </p:nvSpPr>
        <p:spPr>
          <a:xfrm>
            <a:off x="457200" y="2788920"/>
            <a:ext cx="8229600" cy="320040"/>
          </a:xfrm>
          <a:prstGeom prst="rect">
            <a:avLst/>
          </a:prstGeom>
          <a:noFill/>
          <a:ln/>
        </p:spPr>
        <p:txBody>
          <a:bodyPr wrap="square" lIns="0" tIns="0" rIns="0" bIns="0" rtlCol="0" anchor="t"/>
          <a:lstStyle/>
          <a:p>
            <a:pPr indent="0" marL="0">
              <a:buNone/>
            </a:pPr>
            <a:r>
              <a:rPr lang="en-US" sz="1400" dirty="0">
                <a:solidFill>
                  <a:srgbClr val="B3B3B3"/>
                </a:solidFill>
                <a:latin typeface="Segoe UI Variable Text" pitchFamily="34" charset="0"/>
                <a:ea typeface="Segoe UI Variable Text" pitchFamily="34" charset="-122"/>
                <a:cs typeface="Segoe UI Variable Text" pitchFamily="34" charset="-120"/>
              </a:rPr>
              <a:t>Opérations honnêtes arrêtées à tort</a:t>
            </a:r>
            <a:endParaRPr lang="en-US" sz="1400" dirty="0"/>
          </a:p>
        </p:txBody>
      </p:sp>
      <p:sp>
        <p:nvSpPr>
          <p:cNvPr id="13" name="Text 10"/>
          <p:cNvSpPr txBox="1"/>
          <p:nvPr/>
        </p:nvSpPr>
        <p:spPr>
          <a:xfrm>
            <a:off x="457200" y="3154680"/>
            <a:ext cx="2377440" cy="457200"/>
          </a:xfrm>
          <a:prstGeom prst="rect">
            <a:avLst/>
          </a:prstGeom>
          <a:noFill/>
          <a:ln/>
        </p:spPr>
        <p:txBody>
          <a:bodyPr wrap="square" lIns="0" tIns="0" rIns="0" bIns="0" rtlCol="0" anchor="ctr"/>
          <a:lstStyle/>
          <a:p>
            <a:pPr indent="0" marL="0">
              <a:buNone/>
            </a:pPr>
            <a:r>
              <a:rPr lang="en-US" sz="1600" dirty="0">
                <a:solidFill>
                  <a:srgbClr val="B3B3B3"/>
                </a:solidFill>
                <a:latin typeface="Segoe UI Variable Text" pitchFamily="34" charset="0"/>
                <a:ea typeface="Segoe UI Variable Text" pitchFamily="34" charset="-122"/>
                <a:cs typeface="Segoe UI Variable Text" pitchFamily="34" charset="-120"/>
              </a:rPr>
              <a:t>Seuil fixé avant</a:t>
            </a:r>
            <a:endParaRPr lang="en-US" sz="1600" dirty="0"/>
          </a:p>
        </p:txBody>
      </p:sp>
      <p:sp>
        <p:nvSpPr>
          <p:cNvPr id="14" name="Shape 11"/>
          <p:cNvSpPr/>
          <p:nvPr/>
        </p:nvSpPr>
        <p:spPr>
          <a:xfrm>
            <a:off x="2926080" y="3209544"/>
            <a:ext cx="457200" cy="347472"/>
          </a:xfrm>
          <a:prstGeom prst="rect">
            <a:avLst/>
          </a:prstGeom>
          <a:solidFill>
            <a:srgbClr val="808080"/>
          </a:solidFill>
          <a:ln w="12700">
            <a:solidFill>
              <a:srgbClr val="808080"/>
            </a:solidFill>
            <a:prstDash val="solid"/>
          </a:ln>
        </p:spPr>
      </p:sp>
      <p:sp>
        <p:nvSpPr>
          <p:cNvPr id="15" name="Text 12"/>
          <p:cNvSpPr txBox="1"/>
          <p:nvPr/>
        </p:nvSpPr>
        <p:spPr>
          <a:xfrm>
            <a:off x="3520440" y="3154680"/>
            <a:ext cx="1280160" cy="457200"/>
          </a:xfrm>
          <a:prstGeom prst="rect">
            <a:avLst/>
          </a:prstGeom>
          <a:noFill/>
          <a:ln/>
        </p:spPr>
        <p:txBody>
          <a:bodyPr wrap="square" lIns="0" tIns="0" rIns="0" bIns="0" rtlCol="0" anchor="ctr"/>
          <a:lstStyle/>
          <a:p>
            <a:pPr indent="0" marL="0">
              <a:buNone/>
            </a:pPr>
            <a:r>
              <a:rPr lang="en-US" sz="2600" dirty="0">
                <a:solidFill>
                  <a:srgbClr val="808080"/>
                </a:solidFill>
                <a:latin typeface="Segoe UI Variable Text Semibold" pitchFamily="34" charset="0"/>
                <a:ea typeface="Segoe UI Variable Text Semibold" pitchFamily="34" charset="-122"/>
                <a:cs typeface="Segoe UI Variable Text Semibold" pitchFamily="34" charset="-120"/>
              </a:rPr>
              <a:t>10 %</a:t>
            </a:r>
            <a:endParaRPr lang="en-US" sz="2600" dirty="0"/>
          </a:p>
        </p:txBody>
      </p:sp>
      <p:sp>
        <p:nvSpPr>
          <p:cNvPr id="16" name="Text 13"/>
          <p:cNvSpPr txBox="1"/>
          <p:nvPr/>
        </p:nvSpPr>
        <p:spPr>
          <a:xfrm>
            <a:off x="457200" y="3657600"/>
            <a:ext cx="2377440" cy="457200"/>
          </a:xfrm>
          <a:prstGeom prst="rect">
            <a:avLst/>
          </a:prstGeom>
          <a:noFill/>
          <a:ln/>
        </p:spPr>
        <p:txBody>
          <a:bodyPr wrap="square" lIns="0" tIns="0" rIns="0" bIns="0" rtlCol="0" anchor="ctr"/>
          <a:lstStyle/>
          <a:p>
            <a:pPr indent="0" marL="0">
              <a:buNone/>
            </a:pPr>
            <a:r>
              <a:rPr lang="en-US" sz="1600" dirty="0">
                <a:solidFill>
                  <a:srgbClr val="B3B3B3"/>
                </a:solidFill>
                <a:latin typeface="Segoe UI Variable Text" pitchFamily="34" charset="0"/>
                <a:ea typeface="Segoe UI Variable Text" pitchFamily="34" charset="-122"/>
                <a:cs typeface="Segoe UI Variable Text" pitchFamily="34" charset="-120"/>
              </a:rPr>
              <a:t>Mesuré : seuil manqué</a:t>
            </a:r>
            <a:endParaRPr lang="en-US" sz="1600" dirty="0"/>
          </a:p>
        </p:txBody>
      </p:sp>
      <p:sp>
        <p:nvSpPr>
          <p:cNvPr id="17" name="Shape 14"/>
          <p:cNvSpPr/>
          <p:nvPr/>
        </p:nvSpPr>
        <p:spPr>
          <a:xfrm>
            <a:off x="2926080" y="3712464"/>
            <a:ext cx="685800" cy="347472"/>
          </a:xfrm>
          <a:prstGeom prst="rect">
            <a:avLst/>
          </a:prstGeom>
          <a:solidFill>
            <a:srgbClr val="FFFFFF"/>
          </a:solidFill>
          <a:ln w="12700">
            <a:solidFill>
              <a:srgbClr val="FFFFFF"/>
            </a:solidFill>
            <a:prstDash val="solid"/>
          </a:ln>
        </p:spPr>
      </p:sp>
      <p:sp>
        <p:nvSpPr>
          <p:cNvPr id="18" name="Text 15"/>
          <p:cNvSpPr txBox="1"/>
          <p:nvPr/>
        </p:nvSpPr>
        <p:spPr>
          <a:xfrm>
            <a:off x="3749040" y="3657600"/>
            <a:ext cx="1280160" cy="457200"/>
          </a:xfrm>
          <a:prstGeom prst="rect">
            <a:avLst/>
          </a:prstGeom>
          <a:noFill/>
          <a:ln/>
        </p:spPr>
        <p:txBody>
          <a:bodyPr wrap="square" lIns="0" tIns="0" rIns="0" bIns="0" rtlCol="0" anchor="ctr"/>
          <a:lstStyle/>
          <a:p>
            <a:pPr indent="0" marL="0">
              <a:buNone/>
            </a:pPr>
            <a:r>
              <a:rPr lang="en-US" sz="2600" dirty="0">
                <a:solidFill>
                  <a:srgbClr val="FFFFFF"/>
                </a:solidFill>
                <a:latin typeface="Segoe UI Variable Text Semibold" pitchFamily="34" charset="0"/>
                <a:ea typeface="Segoe UI Variable Text Semibold" pitchFamily="34" charset="-122"/>
                <a:cs typeface="Segoe UI Variable Text Semibold" pitchFamily="34" charset="-120"/>
              </a:rPr>
              <a:t>15 %</a:t>
            </a:r>
            <a:endParaRPr lang="en-US" sz="2600" dirty="0"/>
          </a:p>
        </p:txBody>
      </p:sp>
      <p:sp>
        <p:nvSpPr>
          <p:cNvPr id="25" name="Slide Number Placeholder 0"/>
          <p:cNvSpPr>
            <a:spLocks noGrp="1"/>
          </p:cNvSpPr>
          <p:nvPr>
            <p:ph type="sldNum" sz="quarter" idx="4294967295"/>
          </p:nvPr>
        </p:nvSpPr>
        <p:spPr>
          <a:xfrm>
            <a:off x="8229600" y="468172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08080"/>
                </a:solidFill>
                <a:latin typeface="Segoe UI Variable Text"/>
                <a:ea typeface="Segoe UI Variable Text"/>
                <a:cs typeface="Segoe UI Variable Text"/>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457200" y="365760"/>
            <a:ext cx="5120640" cy="548640"/>
          </a:xfrm>
          <a:prstGeom prst="rect">
            <a:avLst/>
          </a:prstGeom>
          <a:noFill/>
          <a:ln/>
        </p:spPr>
        <p:txBody>
          <a:bodyPr wrap="square" lIns="0" tIns="0" rIns="0" bIns="0" rtlCol="0" anchor="t"/>
          <a:lstStyle/>
          <a:p>
            <a:pPr indent="0" marL="0">
              <a:buNone/>
            </a:pPr>
            <a:r>
              <a:rPr lang="en-US" sz="2800" dirty="0">
                <a:solidFill>
                  <a:srgbClr val="FFFFFF"/>
                </a:solidFill>
                <a:latin typeface="Segoe UI Variable Text Semibold" pitchFamily="34" charset="0"/>
                <a:ea typeface="Segoe UI Variable Text Semibold" pitchFamily="34" charset="-122"/>
                <a:cs typeface="Segoe UI Variable Text Semibold" pitchFamily="34" charset="-120"/>
              </a:rPr>
              <a:t>36 parcours. Notre testeuse</a:t>
            </a:r>
            <a:endParaRPr lang="en-US" sz="2800" dirty="0"/>
          </a:p>
          <a:p>
            <a:pPr indent="0" marL="0">
              <a:buNone/>
            </a:pPr>
            <a:r>
              <a:rPr lang="en-US" sz="2800" dirty="0">
                <a:solidFill>
                  <a:srgbClr val="FFFFFF"/>
                </a:solidFill>
                <a:latin typeface="Segoe UI Variable Text Semibold" pitchFamily="34" charset="0"/>
                <a:ea typeface="Segoe UI Variable Text Semibold" pitchFamily="34" charset="-122"/>
                <a:cs typeface="Segoe UI Variable Text Semibold" pitchFamily="34" charset="-120"/>
              </a:rPr>
              <a:t>s’est fait piéger 4 fois.</a:t>
            </a:r>
            <a:endParaRPr lang="en-US" sz="2800" dirty="0"/>
          </a:p>
        </p:txBody>
      </p:sp>
      <p:sp>
        <p:nvSpPr>
          <p:cNvPr id="3" name="Text 1"/>
          <p:cNvSpPr txBox="1"/>
          <p:nvPr/>
        </p:nvSpPr>
        <p:spPr>
          <a:xfrm>
            <a:off x="457200" y="4663440"/>
            <a:ext cx="7680960" cy="228600"/>
          </a:xfrm>
          <a:prstGeom prst="rect">
            <a:avLst/>
          </a:prstGeom>
          <a:noFill/>
          <a:ln/>
        </p:spPr>
        <p:txBody>
          <a:bodyPr wrap="square" lIns="0" tIns="0" rIns="0" bIns="0" rtlCol="0" anchor="t"/>
          <a:lstStyle/>
          <a:p>
            <a:pPr indent="0" marL="0">
              <a:buNone/>
            </a:pPr>
            <a:r>
              <a:rPr lang="en-US" sz="1100" dirty="0">
                <a:solidFill>
                  <a:srgbClr val="B3B3B3"/>
                </a:solidFill>
                <a:latin typeface="Segoe UI Variable Text" pitchFamily="34" charset="0"/>
                <a:ea typeface="Segoe UI Variable Text" pitchFamily="34" charset="-122"/>
                <a:cs typeface="Segoe UI Variable Text" pitchFamily="34" charset="-120"/>
              </a:rPr>
              <a:t>Dans le dépôt : coord/reports/testeurs/3_prudente_clavier.md, preuves/exhaustivite/EXHAUSTIVITE_INTENTION.md</a:t>
            </a:r>
            <a:endParaRPr lang="en-US" sz="1100" dirty="0"/>
          </a:p>
        </p:txBody>
      </p:sp>
      <p:sp>
        <p:nvSpPr>
          <p:cNvPr id="5" name="Text 2"/>
          <p:cNvSpPr txBox="1"/>
          <p:nvPr/>
        </p:nvSpPr>
        <p:spPr>
          <a:xfrm>
            <a:off x="457200" y="1463040"/>
            <a:ext cx="4937760" cy="1097280"/>
          </a:xfrm>
          <a:prstGeom prst="rect">
            <a:avLst/>
          </a:prstGeom>
          <a:noFill/>
          <a:ln/>
        </p:spPr>
        <p:txBody>
          <a:bodyPr wrap="square" lIns="0" tIns="0" rIns="0" bIns="0" rtlCol="0" anchor="t"/>
          <a:lstStyle/>
          <a:p>
            <a:pPr indent="0" marL="0">
              <a:buNone/>
            </a:pPr>
            <a:r>
              <a:rPr lang="en-US" sz="1400" dirty="0">
                <a:solidFill>
                  <a:srgbClr val="B3B3B3"/>
                </a:solidFill>
                <a:latin typeface="Segoe UI Variable Text" pitchFamily="34" charset="0"/>
                <a:ea typeface="Segoe UI Variable Text" pitchFamily="34" charset="-122"/>
                <a:cs typeface="Segoe UI Variable Text" pitchFamily="34" charset="-120"/>
              </a:rPr>
              <a:t>Les 4 fois, elle avait lu « Ça ne correspond pas » et appuyé sur « Continuer » quand même. Jamais piégée sans ce geste. La testeuse est un agent qui joue une personne prudente, au clavier.</a:t>
            </a:r>
            <a:endParaRPr lang="en-US" sz="1400" dirty="0"/>
          </a:p>
        </p:txBody>
      </p:sp>
      <p:sp>
        <p:nvSpPr>
          <p:cNvPr id="6" name="Text 3"/>
          <p:cNvSpPr txBox="1"/>
          <p:nvPr/>
        </p:nvSpPr>
        <p:spPr>
          <a:xfrm>
            <a:off x="457200" y="2697480"/>
            <a:ext cx="4937760" cy="365760"/>
          </a:xfrm>
          <a:prstGeom prst="rect">
            <a:avLst/>
          </a:prstGeom>
          <a:noFill/>
          <a:ln/>
        </p:spPr>
        <p:txBody>
          <a:bodyPr wrap="square" lIns="0" tIns="0" rIns="0" bIns="0" rtlCol="0" anchor="t"/>
          <a:lstStyle/>
          <a:p>
            <a:pPr indent="0" marL="0">
              <a:buNone/>
            </a:pPr>
            <a:r>
              <a:rPr lang="en-US" sz="1800" dirty="0">
                <a:solidFill>
                  <a:srgbClr val="FFFFFF"/>
                </a:solidFill>
                <a:latin typeface="Segoe UI Variable Text Semibold" pitchFamily="34" charset="0"/>
                <a:ea typeface="Segoe UI Variable Text Semibold" pitchFamily="34" charset="-122"/>
                <a:cs typeface="Segoe UI Variable Text Semibold" pitchFamily="34" charset="-120"/>
              </a:rPr>
              <a:t>Ce que Hold up ne fait pas encore</a:t>
            </a:r>
            <a:endParaRPr lang="en-US" sz="1800" dirty="0"/>
          </a:p>
        </p:txBody>
      </p:sp>
      <p:sp>
        <p:nvSpPr>
          <p:cNvPr id="7" name="Text 4"/>
          <p:cNvSpPr txBox="1"/>
          <p:nvPr/>
        </p:nvSpPr>
        <p:spPr>
          <a:xfrm>
            <a:off x="457200" y="3154680"/>
            <a:ext cx="4937760" cy="1371600"/>
          </a:xfrm>
          <a:prstGeom prst="rect">
            <a:avLst/>
          </a:prstGeom>
          <a:noFill/>
          <a:ln/>
        </p:spPr>
        <p:txBody>
          <a:bodyPr wrap="square" lIns="0" tIns="0" rIns="0" bIns="0" rtlCol="0" anchor="t"/>
          <a:lstStyle/>
          <a:p>
            <a:pPr indent="0" marL="0">
              <a:spcAft>
                <a:spcPts val="800"/>
              </a:spcAft>
              <a:buNone/>
            </a:pPr>
            <a:r>
              <a:rPr lang="en-US" sz="1600" dirty="0">
                <a:solidFill>
                  <a:srgbClr val="B3B3B3"/>
                </a:solidFill>
                <a:latin typeface="Segoe UI Variable Text" pitchFamily="34" charset="0"/>
                <a:ea typeface="Segoe UI Variable Text" pitchFamily="34" charset="-122"/>
                <a:cs typeface="Segoe UI Variable Text" pitchFamily="34" charset="-120"/>
              </a:rPr>
              <a:t>Je ne vérifie pas ce que tu reçois en échange.</a:t>
            </a:r>
            <a:endParaRPr lang="en-US" sz="1600" dirty="0"/>
          </a:p>
          <a:p>
            <a:pPr indent="0" marL="0">
              <a:spcAft>
                <a:spcPts val="800"/>
              </a:spcAft>
              <a:buNone/>
            </a:pPr>
            <a:r>
              <a:rPr lang="en-US" sz="1600" dirty="0">
                <a:solidFill>
                  <a:srgbClr val="B3B3B3"/>
                </a:solidFill>
                <a:latin typeface="Segoe UI Variable Text" pitchFamily="34" charset="0"/>
                <a:ea typeface="Segoe UI Variable Text" pitchFamily="34" charset="-122"/>
                <a:cs typeface="Segoe UI Variable Text" pitchFamily="34" charset="-120"/>
              </a:rPr>
              <a:t>Je n’ai jamais été essayé devant un vrai MetaMask.</a:t>
            </a:r>
            <a:endParaRPr lang="en-US" sz="1600" dirty="0"/>
          </a:p>
          <a:p>
            <a:pPr indent="0" marL="0">
              <a:spcAft>
                <a:spcPts val="800"/>
              </a:spcAft>
              <a:buNone/>
            </a:pPr>
            <a:r>
              <a:rPr lang="en-US" sz="1600" dirty="0">
                <a:solidFill>
                  <a:srgbClr val="B3B3B3"/>
                </a:solidFill>
                <a:latin typeface="Segoe UI Variable Text" pitchFamily="34" charset="0"/>
                <a:ea typeface="Segoe UI Variable Text" pitchFamily="34" charset="-122"/>
                <a:cs typeface="Segoe UI Variable Text" pitchFamily="34" charset="-120"/>
              </a:rPr>
              <a:t>Je ne couvre ni un Ledger en direct, ni le téléphone.</a:t>
            </a:r>
            <a:endParaRPr lang="en-US" sz="1600" dirty="0"/>
          </a:p>
        </p:txBody>
      </p:sp>
      <p:pic>
        <p:nvPicPr>
          <p:cNvPr id="8" name="Image 0" descr="C:\Users\Adem\Secure Horizon\coord\reports\testeurs\3_captures\s05_08_f1_continuer_actif.png">    </p:cNvPr>
          <p:cNvPicPr>
            <a:picLocks noChangeAspect="1"/>
          </p:cNvPicPr>
          <p:nvPr/>
        </p:nvPicPr>
        <p:blipFill>
          <a:blip r:embed="rId1"/>
          <a:stretch>
            <a:fillRect/>
          </a:stretch>
        </p:blipFill>
        <p:spPr>
          <a:xfrm>
            <a:off x="5760720" y="457200"/>
            <a:ext cx="2926080" cy="3419856"/>
          </a:xfrm>
          <a:prstGeom prst="rect">
            <a:avLst/>
          </a:prstGeom>
        </p:spPr>
      </p:pic>
      <p:sp>
        <p:nvSpPr>
          <p:cNvPr id="9" name="Text 5"/>
          <p:cNvSpPr txBox="1"/>
          <p:nvPr/>
        </p:nvSpPr>
        <p:spPr>
          <a:xfrm>
            <a:off x="5760720" y="4023360"/>
            <a:ext cx="2926080" cy="274320"/>
          </a:xfrm>
          <a:prstGeom prst="rect">
            <a:avLst/>
          </a:prstGeom>
          <a:noFill/>
          <a:ln/>
        </p:spPr>
        <p:txBody>
          <a:bodyPr wrap="square" lIns="0" tIns="0" rIns="0" bIns="0" rtlCol="0" anchor="t"/>
          <a:lstStyle/>
          <a:p>
            <a:pPr indent="0" marL="0">
              <a:buNone/>
            </a:pPr>
            <a:r>
              <a:rPr lang="en-US" sz="1200" dirty="0">
                <a:solidFill>
                  <a:srgbClr val="B3B3B3"/>
                </a:solidFill>
                <a:latin typeface="Segoe UI Variable Text" pitchFamily="34" charset="0"/>
                <a:ea typeface="Segoe UI Variable Text" pitchFamily="34" charset="-122"/>
                <a:cs typeface="Segoe UI Variable Text" pitchFamily="34" charset="-120"/>
              </a:rPr>
              <a:t>L’extension, pendant l’essai.</a:t>
            </a:r>
            <a:endParaRPr lang="en-US" sz="1200" dirty="0"/>
          </a:p>
        </p:txBody>
      </p:sp>
      <p:sp>
        <p:nvSpPr>
          <p:cNvPr id="25" name="Slide Number Placeholder 0"/>
          <p:cNvSpPr>
            <a:spLocks noGrp="1"/>
          </p:cNvSpPr>
          <p:nvPr>
            <p:ph type="sldNum" sz="quarter" idx="4294967295"/>
          </p:nvPr>
        </p:nvSpPr>
        <p:spPr>
          <a:xfrm>
            <a:off x="8229600" y="468172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08080"/>
                </a:solidFill>
                <a:latin typeface="Segoe UI Variable Text"/>
                <a:ea typeface="Segoe UI Variable Text"/>
                <a:cs typeface="Segoe UI Variable Text"/>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457200" y="4663440"/>
            <a:ext cx="7680960" cy="228600"/>
          </a:xfrm>
          <a:prstGeom prst="rect">
            <a:avLst/>
          </a:prstGeom>
          <a:noFill/>
          <a:ln/>
        </p:spPr>
        <p:txBody>
          <a:bodyPr wrap="square" lIns="0" tIns="0" rIns="0" bIns="0" rtlCol="0" anchor="t"/>
          <a:lstStyle/>
          <a:p>
            <a:pPr indent="0" marL="0">
              <a:buNone/>
            </a:pPr>
            <a:r>
              <a:rPr lang="en-US" sz="1100" dirty="0">
                <a:solidFill>
                  <a:srgbClr val="B3B3B3"/>
                </a:solidFill>
                <a:latin typeface="Segoe UI Variable Text" pitchFamily="34" charset="0"/>
                <a:ea typeface="Segoe UI Variable Text" pitchFamily="34" charset="-122"/>
                <a:cs typeface="Segoe UI Variable Text" pitchFamily="34" charset="-120"/>
              </a:rPr>
              <a:t>Dans le dépôt : research/titouan/BM2/BM_MODELE.md, BM_LABEL.md</a:t>
            </a:r>
            <a:endParaRPr lang="en-US" sz="1100" dirty="0"/>
          </a:p>
        </p:txBody>
      </p:sp>
      <p:sp>
        <p:nvSpPr>
          <p:cNvPr id="4" name="Text 1"/>
          <p:cNvSpPr txBox="1"/>
          <p:nvPr/>
        </p:nvSpPr>
        <p:spPr>
          <a:xfrm>
            <a:off x="457200" y="1737360"/>
            <a:ext cx="8229600" cy="1463040"/>
          </a:xfrm>
          <a:prstGeom prst="rect">
            <a:avLst/>
          </a:prstGeom>
          <a:noFill/>
          <a:ln/>
        </p:spPr>
        <p:txBody>
          <a:bodyPr wrap="square" lIns="0" tIns="0" rIns="0" bIns="0" rtlCol="0" anchor="t"/>
          <a:lstStyle/>
          <a:p>
            <a:pPr indent="0" marL="0">
              <a:buNone/>
            </a:pPr>
            <a:r>
              <a:rPr lang="en-US" sz="4000" dirty="0">
                <a:solidFill>
                  <a:srgbClr val="FFFFFF"/>
                </a:solidFill>
                <a:latin typeface="Segoe UI Variable Text Semibold" pitchFamily="34" charset="0"/>
                <a:ea typeface="Segoe UI Variable Text Semibold" pitchFamily="34" charset="-122"/>
                <a:cs typeface="Segoe UI Variable Text Semibold" pitchFamily="34" charset="-120"/>
              </a:rPr>
              <a:t>On ne sait pas quel site sera piraté.</a:t>
            </a:r>
            <a:endParaRPr lang="en-US" sz="4000" dirty="0"/>
          </a:p>
          <a:p>
            <a:pPr indent="0" marL="0">
              <a:buNone/>
            </a:pPr>
            <a:r>
              <a:rPr lang="en-US" sz="4000" dirty="0">
                <a:solidFill>
                  <a:srgbClr val="FFFFFF"/>
                </a:solidFill>
                <a:latin typeface="Segoe UI Variable Text Semibold" pitchFamily="34" charset="0"/>
                <a:ea typeface="Segoe UI Variable Text Semibold" pitchFamily="34" charset="-122"/>
                <a:cs typeface="Segoe UI Variable Text Semibold" pitchFamily="34" charset="-120"/>
              </a:rPr>
              <a:t>On décide de ce qu'on lui laisse.</a:t>
            </a:r>
            <a:endParaRPr lang="en-US" sz="4000" dirty="0"/>
          </a:p>
        </p:txBody>
      </p:sp>
      <p:sp>
        <p:nvSpPr>
          <p:cNvPr id="25" name="Slide Number Placeholder 0"/>
          <p:cNvSpPr>
            <a:spLocks noGrp="1"/>
          </p:cNvSpPr>
          <p:nvPr>
            <p:ph type="sldNum" sz="quarter" idx="4294967295"/>
          </p:nvPr>
        </p:nvSpPr>
        <p:spPr>
          <a:xfrm>
            <a:off x="8229600" y="468172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08080"/>
                </a:solidFill>
                <a:latin typeface="Segoe UI Variable Text"/>
                <a:ea typeface="Segoe UI Variable Text"/>
                <a:cs typeface="Segoe UI Variable Text"/>
              </a:defRPr>
            </a:lvl1pPr>
          </a:lstStyle>
          <a:p>
            <a:pPr algn="r"/>
            <a:fld id="{F7021451-1387-4CA6-816F-3879F97B5CBC}" type="slidenum">
              <a:rPr b="0" lang="en-US"/>
              <a:t>8</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Hold up</dc:title>
  <dc:subject>PptxGenJS Presentation</dc:subject>
  <dc:creator>Adem et Titouan</dc:creator>
  <cp:lastModifiedBy>Adem et Titouan</cp:lastModifiedBy>
  <cp:revision>1</cp:revision>
  <dcterms:created xsi:type="dcterms:W3CDTF">2026-10-11T09:11:15Z</dcterms:created>
  <dcterms:modified xsi:type="dcterms:W3CDTF">2026-10-11T09:11:15Z</dcterms:modified>
</cp:coreProperties>
</file>