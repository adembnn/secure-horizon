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fenêtres, le même site, l'un piraté : à l'œil, impossible à dire. Ce jour-là, on perd ce qu'on lui a laissé le droit de prendre. Sur Avalanche C-Chain, 34,2 % [33,6 ; 34,9] des droits de dépense non nuls lus sont illimités (7 103 sur 20 753, 40 fenêtres de 500 blocs) : mesure interne, des événements et non des personnes, non représentative. Dire « une sur trois », jamais « la norme ». Nous adressons Avalanche : ne pas citer Ethereum. Méthode : Z4_illimite_par_plateforme.md dans le même dossier ; livrables/CHIFFRES.md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Sans Hold up : 100, 50 après l'échange, puis 0. Avec : autorisation ramenée à 50,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 Phrase exacte : « sans Hold up il te reste zéro, avec Hold up tu gardes 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LI.FI, 16 juillet 2024 : 11,6 M$ pris à 153 portefeuilles en approbation illimitée, rien aux approbations finies, selon le rapport de LI.FI (source éditeur). Les victimes avaient choisi l'illimité alors que le défaut était fini. Chiffres sur la slide, pas à l'oral (quatre chiffres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cas (150 arnaques, 100 jumeaux honnêtes), écrits sans lire nos règles, sha256 publié, ouverts une fois le 11 oct. 2026, moteur figé. Signalé = avertissement ou rouge. Code seul : 87,3 % [81,1 ; 91,7], faux rouges 15,0 % [9,3 ; 23,3]. Sans phrase : 64,7 %. Critères publiés avant : rappel au moins 80 % atteint, faux rouges au plus 10 % non atteint. 11 des 15 faux rouges : achat NFT à prix quasi nul. Ces chiffres mesurent le moteur de comparaison côté serveur (blind_decalage/run/chaine/), en Node, pas l'extension livrée : ne jamais dire « l'extension attrape 87 % ». Ne pas citer A11 ni A12 de CHIFFRES.md comme mesure du produit (rejoué sur le build réel : 38,2 % et 9,1 %, preuves/ECARTS_LIVRABLES.md). Limite : auteur de la même famille de modèles que ceux qui nous ont aidés ; cas synthétiques. Ne plus citer le 1,3 %.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research/titouan/Z_approbations/onchain/result_avax.json</a:t>
            </a:r>
            <a:endParaRPr lang="en-US" sz="1100" dirty="0"/>
          </a:p>
        </p:txBody>
      </p:sp>
      <p:sp>
        <p:nvSpPr>
          <p:cNvPr id="4" name="Text 1"/>
          <p:cNvSpPr txBox="1"/>
          <p:nvPr/>
        </p:nvSpPr>
        <p:spPr>
          <a:xfrm>
            <a:off x="457200" y="82296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34 %</a:t>
            </a:r>
            <a:endParaRPr lang="en-US" sz="13000" dirty="0"/>
          </a:p>
        </p:txBody>
      </p:sp>
      <p:sp>
        <p:nvSpPr>
          <p:cNvPr id="5" name="Text 2"/>
          <p:cNvSpPr txBox="1"/>
          <p:nvPr/>
        </p:nvSpPr>
        <p:spPr>
          <a:xfrm>
            <a:off x="457200" y="288036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des autorisations de dépense lues sur Avalanche sont illimitées.</a:t>
            </a:r>
            <a:endParaRPr lang="en-US" sz="2000" dirty="0"/>
          </a:p>
        </p:txBody>
      </p:sp>
      <p:sp>
        <p:nvSpPr>
          <p:cNvPr id="6" name="Text 3"/>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Une sur trois. Notre mesure, sur un échantillon de blocs.</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Le même site, piraté plus tard</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32588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a:t>
            </a:r>
            <a:endParaRPr lang="en-US" sz="1600" dirty="0"/>
          </a:p>
        </p:txBody>
      </p:sp>
      <p:sp>
        <p:nvSpPr>
          <p:cNvPr id="6" name="Text 3"/>
          <p:cNvSpPr txBox="1"/>
          <p:nvPr/>
        </p:nvSpPr>
        <p:spPr>
          <a:xfrm>
            <a:off x="457200" y="1691640"/>
            <a:ext cx="3931920" cy="1371600"/>
          </a:xfrm>
          <a:prstGeom prst="rect">
            <a:avLst/>
          </a:prstGeom>
          <a:noFill/>
          <a:ln/>
        </p:spPr>
        <p:txBody>
          <a:bodyPr wrap="square" lIns="0" tIns="0" rIns="0" bIns="0" rtlCol="0" anchor="t"/>
          <a:lstStyle/>
          <a:p>
            <a:pPr indent="0" marL="0">
              <a:buNone/>
            </a:pPr>
            <a:r>
              <a:rPr lang="en-US" sz="6400" dirty="0">
                <a:solidFill>
                  <a:srgbClr val="FFFFFF"/>
                </a:solidFill>
                <a:latin typeface="Segoe UI Variable Text Semibold" pitchFamily="34" charset="0"/>
                <a:ea typeface="Segoe UI Variable Text Semibold" pitchFamily="34" charset="-122"/>
                <a:cs typeface="Segoe UI Variable Text Semibold" pitchFamily="34" charset="-120"/>
              </a:rPr>
              <a:t>50 → 0</a:t>
            </a:r>
            <a:endParaRPr lang="en-US" sz="6400" dirty="0"/>
          </a:p>
        </p:txBody>
      </p:sp>
      <p:sp>
        <p:nvSpPr>
          <p:cNvPr id="7" name="Text 4"/>
          <p:cNvSpPr txBox="1"/>
          <p:nvPr/>
        </p:nvSpPr>
        <p:spPr>
          <a:xfrm>
            <a:off x="457200" y="2926080"/>
            <a:ext cx="365760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 illimitée : le pirate vide le compte.</a:t>
            </a:r>
            <a:endParaRPr lang="en-US" sz="1600" dirty="0"/>
          </a:p>
        </p:txBody>
      </p:sp>
      <p:sp>
        <p:nvSpPr>
          <p:cNvPr id="8" name="Text 5"/>
          <p:cNvSpPr txBox="1"/>
          <p:nvPr/>
        </p:nvSpPr>
        <p:spPr>
          <a:xfrm>
            <a:off x="4846320" y="132588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a:t>
            </a:r>
            <a:endParaRPr lang="en-US" sz="1600" dirty="0"/>
          </a:p>
        </p:txBody>
      </p:sp>
      <p:sp>
        <p:nvSpPr>
          <p:cNvPr id="9" name="Text 6"/>
          <p:cNvSpPr txBox="1"/>
          <p:nvPr/>
        </p:nvSpPr>
        <p:spPr>
          <a:xfrm>
            <a:off x="4846320" y="1691640"/>
            <a:ext cx="3931920" cy="1371600"/>
          </a:xfrm>
          <a:prstGeom prst="rect">
            <a:avLst/>
          </a:prstGeom>
          <a:noFill/>
          <a:ln/>
        </p:spPr>
        <p:txBody>
          <a:bodyPr wrap="square" lIns="0" tIns="0" rIns="0" bIns="0" rtlCol="0" anchor="t"/>
          <a:lstStyle/>
          <a:p>
            <a:pPr indent="0" marL="0">
              <a:buNone/>
            </a:pPr>
            <a:r>
              <a:rPr lang="en-US" sz="6400" dirty="0">
                <a:solidFill>
                  <a:srgbClr val="FFFFFF"/>
                </a:solidFill>
                <a:latin typeface="Segoe UI Variable Text Semibold" pitchFamily="34" charset="0"/>
                <a:ea typeface="Segoe UI Variable Text Semibold" pitchFamily="34" charset="-122"/>
                <a:cs typeface="Segoe UI Variable Text Semibold" pitchFamily="34" charset="-120"/>
              </a:rPr>
              <a:t>50 → 50</a:t>
            </a:r>
            <a:endParaRPr lang="en-US" sz="6400" dirty="0"/>
          </a:p>
        </p:txBody>
      </p:sp>
      <p:sp>
        <p:nvSpPr>
          <p:cNvPr id="10" name="Text 7"/>
          <p:cNvSpPr txBox="1"/>
          <p:nvPr/>
        </p:nvSpPr>
        <p:spPr>
          <a:xfrm>
            <a:off x="4846320" y="2926080"/>
            <a:ext cx="365760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 limitée à 50 USDC, consommée par l’échange : rien à prendre.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sp>
        <p:nvSpPr>
          <p:cNvPr id="6" name="Text 3"/>
          <p:cNvSpPr txBox="1"/>
          <p:nvPr/>
        </p:nvSpPr>
        <p:spPr>
          <a:xfrm>
            <a:off x="457200" y="3977640"/>
            <a:ext cx="47548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Jamais joué devant un vrai portefeuille.</a:t>
            </a:r>
            <a:endParaRPr lang="en-US" sz="1600" dirty="0"/>
          </a:p>
        </p:txBody>
      </p:sp>
      <p:pic>
        <p:nvPicPr>
          <p:cNvPr id="7"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C’est déjà arrivé : LI.FI, juillet 2024</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livrables/CHIFFRES.md, ligne B7. Rapport : li.fi/knowledge-hub/incident-report-16th-july</a:t>
            </a:r>
            <a:endParaRPr lang="en-US" sz="1100" dirty="0"/>
          </a:p>
        </p:txBody>
      </p:sp>
      <p:sp>
        <p:nvSpPr>
          <p:cNvPr id="5" name="Text 2"/>
          <p:cNvSpPr txBox="1"/>
          <p:nvPr/>
        </p:nvSpPr>
        <p:spPr>
          <a:xfrm>
            <a:off x="457200" y="1463040"/>
            <a:ext cx="393192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illimitées</a:t>
            </a:r>
            <a:endParaRPr lang="en-US" sz="1600" dirty="0"/>
          </a:p>
        </p:txBody>
      </p:sp>
      <p:sp>
        <p:nvSpPr>
          <p:cNvPr id="6" name="Text 3"/>
          <p:cNvSpPr txBox="1"/>
          <p:nvPr/>
        </p:nvSpPr>
        <p:spPr>
          <a:xfrm>
            <a:off x="45720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vidées</a:t>
            </a:r>
            <a:endParaRPr lang="en-US" sz="6000" dirty="0"/>
          </a:p>
        </p:txBody>
      </p:sp>
      <p:sp>
        <p:nvSpPr>
          <p:cNvPr id="7" name="Text 4"/>
          <p:cNvSpPr txBox="1"/>
          <p:nvPr/>
        </p:nvSpPr>
        <p:spPr>
          <a:xfrm>
            <a:off x="4846320" y="146304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Autorisations limitées</a:t>
            </a:r>
            <a:endParaRPr lang="en-US" sz="1600" dirty="0"/>
          </a:p>
        </p:txBody>
      </p:sp>
      <p:sp>
        <p:nvSpPr>
          <p:cNvPr id="8" name="Text 5"/>
          <p:cNvSpPr txBox="1"/>
          <p:nvPr/>
        </p:nvSpPr>
        <p:spPr>
          <a:xfrm>
            <a:off x="4846320" y="1828800"/>
            <a:ext cx="3931920" cy="118872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rien perdu</a:t>
            </a:r>
            <a:endParaRPr lang="en-US" sz="6000" dirty="0"/>
          </a:p>
        </p:txBody>
      </p:sp>
      <p:sp>
        <p:nvSpPr>
          <p:cNvPr id="9" name="Text 6"/>
          <p:cNvSpPr txBox="1"/>
          <p:nvPr/>
        </p:nvSpPr>
        <p:spPr>
          <a:xfrm>
            <a:off x="457200" y="347472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153 portefeuilles, 11,6 M$, selon le rapport de LI.FI.</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Jeu aveugle : 250 cas, moteur de comparaison</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research/titouan/T_banc_e2e/blind_decalage/run/RESULTAT.md, preuves/ECARTS_LIVRABLES.md</a:t>
            </a:r>
            <a:endParaRPr lang="en-US" sz="1100" dirty="0"/>
          </a:p>
        </p:txBody>
      </p:sp>
      <p:sp>
        <p:nvSpPr>
          <p:cNvPr id="5" name="Text 2"/>
          <p:cNvSpPr txBox="1"/>
          <p:nvPr/>
        </p:nvSpPr>
        <p:spPr>
          <a:xfrm>
            <a:off x="457200" y="11887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Arnaques signalées</a:t>
            </a:r>
            <a:endParaRPr lang="en-US" sz="1400" dirty="0"/>
          </a:p>
        </p:txBody>
      </p:sp>
      <p:sp>
        <p:nvSpPr>
          <p:cNvPr id="6" name="Text 3"/>
          <p:cNvSpPr txBox="1"/>
          <p:nvPr/>
        </p:nvSpPr>
        <p:spPr>
          <a:xfrm>
            <a:off x="457200" y="15544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la phrase</a:t>
            </a:r>
            <a:endParaRPr lang="en-US" sz="1600" dirty="0"/>
          </a:p>
        </p:txBody>
      </p:sp>
      <p:sp>
        <p:nvSpPr>
          <p:cNvPr id="7" name="Shape 4"/>
          <p:cNvSpPr/>
          <p:nvPr/>
        </p:nvSpPr>
        <p:spPr>
          <a:xfrm>
            <a:off x="2926080" y="1609344"/>
            <a:ext cx="2958084" cy="347472"/>
          </a:xfrm>
          <a:prstGeom prst="rect">
            <a:avLst/>
          </a:prstGeom>
          <a:solidFill>
            <a:srgbClr val="808080"/>
          </a:solidFill>
          <a:ln w="12700">
            <a:solidFill>
              <a:srgbClr val="808080"/>
            </a:solidFill>
            <a:prstDash val="solid"/>
          </a:ln>
        </p:spPr>
      </p:sp>
      <p:sp>
        <p:nvSpPr>
          <p:cNvPr id="8" name="Text 5"/>
          <p:cNvSpPr txBox="1"/>
          <p:nvPr/>
        </p:nvSpPr>
        <p:spPr>
          <a:xfrm>
            <a:off x="6021324" y="15544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65 %</a:t>
            </a:r>
            <a:endParaRPr lang="en-US" sz="2600" dirty="0"/>
          </a:p>
        </p:txBody>
      </p:sp>
      <p:sp>
        <p:nvSpPr>
          <p:cNvPr id="9" name="Text 6"/>
          <p:cNvSpPr txBox="1"/>
          <p:nvPr/>
        </p:nvSpPr>
        <p:spPr>
          <a:xfrm>
            <a:off x="457200" y="20574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la phrase</a:t>
            </a:r>
            <a:endParaRPr lang="en-US" sz="1600" dirty="0"/>
          </a:p>
        </p:txBody>
      </p:sp>
      <p:sp>
        <p:nvSpPr>
          <p:cNvPr id="10" name="Shape 7"/>
          <p:cNvSpPr/>
          <p:nvPr/>
        </p:nvSpPr>
        <p:spPr>
          <a:xfrm>
            <a:off x="2926080" y="2112264"/>
            <a:ext cx="3991356" cy="347472"/>
          </a:xfrm>
          <a:prstGeom prst="rect">
            <a:avLst/>
          </a:prstGeom>
          <a:solidFill>
            <a:srgbClr val="FFFFFF"/>
          </a:solidFill>
          <a:ln w="12700">
            <a:solidFill>
              <a:srgbClr val="FFFFFF"/>
            </a:solidFill>
            <a:prstDash val="solid"/>
          </a:ln>
        </p:spPr>
      </p:sp>
      <p:sp>
        <p:nvSpPr>
          <p:cNvPr id="11" name="Text 8"/>
          <p:cNvSpPr txBox="1"/>
          <p:nvPr/>
        </p:nvSpPr>
        <p:spPr>
          <a:xfrm>
            <a:off x="7054596" y="20574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87 %</a:t>
            </a:r>
            <a:endParaRPr lang="en-US" sz="2600" dirty="0"/>
          </a:p>
        </p:txBody>
      </p:sp>
      <p:sp>
        <p:nvSpPr>
          <p:cNvPr id="12" name="Text 9"/>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Opérations honnêtes arrêtées à tort</a:t>
            </a:r>
            <a:endParaRPr lang="en-US" sz="1400" dirty="0"/>
          </a:p>
        </p:txBody>
      </p:sp>
      <p:sp>
        <p:nvSpPr>
          <p:cNvPr id="13" name="Text 10"/>
          <p:cNvSpPr txBox="1"/>
          <p:nvPr/>
        </p:nvSpPr>
        <p:spPr>
          <a:xfrm>
            <a:off x="457200" y="315468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Seuil fixé avant</a:t>
            </a:r>
            <a:endParaRPr lang="en-US" sz="1600" dirty="0"/>
          </a:p>
        </p:txBody>
      </p:sp>
      <p:sp>
        <p:nvSpPr>
          <p:cNvPr id="14" name="Shape 11"/>
          <p:cNvSpPr/>
          <p:nvPr/>
        </p:nvSpPr>
        <p:spPr>
          <a:xfrm>
            <a:off x="2926080" y="3209544"/>
            <a:ext cx="457200" cy="347472"/>
          </a:xfrm>
          <a:prstGeom prst="rect">
            <a:avLst/>
          </a:prstGeom>
          <a:solidFill>
            <a:srgbClr val="808080"/>
          </a:solidFill>
          <a:ln w="12700">
            <a:solidFill>
              <a:srgbClr val="808080"/>
            </a:solidFill>
            <a:prstDash val="solid"/>
          </a:ln>
        </p:spPr>
      </p:sp>
      <p:sp>
        <p:nvSpPr>
          <p:cNvPr id="15" name="Text 12"/>
          <p:cNvSpPr txBox="1"/>
          <p:nvPr/>
        </p:nvSpPr>
        <p:spPr>
          <a:xfrm>
            <a:off x="3520440" y="3154680"/>
            <a:ext cx="1280160" cy="457200"/>
          </a:xfrm>
          <a:prstGeom prst="rect">
            <a:avLst/>
          </a:prstGeom>
          <a:noFill/>
          <a:ln/>
        </p:spPr>
        <p:txBody>
          <a:bodyPr wrap="square" lIns="0" tIns="0" rIns="0" bIns="0" rtlCol="0" anchor="ctr"/>
          <a:lstStyle/>
          <a:p>
            <a:pPr indent="0" marL="0">
              <a:buNone/>
            </a:pPr>
            <a:r>
              <a:rPr lang="en-US" sz="2600" dirty="0">
                <a:solidFill>
                  <a:srgbClr val="808080"/>
                </a:solidFill>
                <a:latin typeface="Segoe UI Variable Text Semibold" pitchFamily="34" charset="0"/>
                <a:ea typeface="Segoe UI Variable Text Semibold" pitchFamily="34" charset="-122"/>
                <a:cs typeface="Segoe UI Variable Text Semibold" pitchFamily="34" charset="-120"/>
              </a:rPr>
              <a:t>10 %</a:t>
            </a:r>
            <a:endParaRPr lang="en-US" sz="2600" dirty="0"/>
          </a:p>
        </p:txBody>
      </p:sp>
      <p:sp>
        <p:nvSpPr>
          <p:cNvPr id="16" name="Text 13"/>
          <p:cNvSpPr txBox="1"/>
          <p:nvPr/>
        </p:nvSpPr>
        <p:spPr>
          <a:xfrm>
            <a:off x="457200" y="3657600"/>
            <a:ext cx="2377440" cy="457200"/>
          </a:xfrm>
          <a:prstGeom prst="rect">
            <a:avLst/>
          </a:prstGeom>
          <a:noFill/>
          <a:ln/>
        </p:spPr>
        <p:txBody>
          <a:bodyPr wrap="square" lIns="0" tIns="0" rIns="0" bIns="0" rtlCol="0" anchor="ctr"/>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Mesuré : seuil manqué</a:t>
            </a:r>
            <a:endParaRPr lang="en-US" sz="1600" dirty="0"/>
          </a:p>
        </p:txBody>
      </p:sp>
      <p:sp>
        <p:nvSpPr>
          <p:cNvPr id="17" name="Shape 14"/>
          <p:cNvSpPr/>
          <p:nvPr/>
        </p:nvSpPr>
        <p:spPr>
          <a:xfrm>
            <a:off x="2926080" y="3712464"/>
            <a:ext cx="685800" cy="347472"/>
          </a:xfrm>
          <a:prstGeom prst="rect">
            <a:avLst/>
          </a:prstGeom>
          <a:solidFill>
            <a:srgbClr val="FFFFFF"/>
          </a:solidFill>
          <a:ln w="12700">
            <a:solidFill>
              <a:srgbClr val="FFFFFF"/>
            </a:solidFill>
            <a:prstDash val="solid"/>
          </a:ln>
        </p:spPr>
      </p:sp>
      <p:sp>
        <p:nvSpPr>
          <p:cNvPr id="18" name="Text 15"/>
          <p:cNvSpPr txBox="1"/>
          <p:nvPr/>
        </p:nvSpPr>
        <p:spPr>
          <a:xfrm>
            <a:off x="3749040" y="3657600"/>
            <a:ext cx="1280160" cy="457200"/>
          </a:xfrm>
          <a:prstGeom prst="rect">
            <a:avLst/>
          </a:prstGeom>
          <a:noFill/>
          <a:ln/>
        </p:spPr>
        <p:txBody>
          <a:bodyPr wrap="square" lIns="0" tIns="0" rIns="0" bIns="0" rtlCol="0" anchor="ctr"/>
          <a:lstStyle/>
          <a:p>
            <a:pPr indent="0" marL="0">
              <a:buNone/>
            </a:pPr>
            <a:r>
              <a:rPr lang="en-US" sz="2600" dirty="0">
                <a:solidFill>
                  <a:srgbClr val="FFFFFF"/>
                </a:solidFill>
                <a:latin typeface="Segoe UI Variable Text Semibold" pitchFamily="34" charset="0"/>
                <a:ea typeface="Segoe UI Variable Text Semibold" pitchFamily="34" charset="-122"/>
                <a:cs typeface="Segoe UI Variable Text Semibold" pitchFamily="34" charset="-120"/>
              </a:rPr>
              <a:t>15 %</a:t>
            </a:r>
            <a:endParaRPr lang="en-US" sz="2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Notre testeuse s’est fait</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600200"/>
            <a:ext cx="4754880" cy="9144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Un agent qui joue une personne prudente, au clavier. « Continuer » était actif tout de suite. Corrigé depuis.</a:t>
            </a:r>
            <a:endParaRPr lang="en-US" sz="16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n’ai jamais été essayé devant un vrai MetaMask.</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2026-10-11T09:01:11Z</dcterms:created>
  <dcterms:modified xsi:type="dcterms:W3CDTF">2026-10-11T09:01:11Z</dcterms:modified>
</cp:coreProperties>
</file>