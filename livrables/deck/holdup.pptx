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jour-là, on perd ce qu'on lui a laissé le droit de prendre. Exemple : je veux échanger 50 USDC, le site me demande un droit sur tout mon USDC. En 2025, selon ScamSniffer (éditeur, chaînes EVM, borne basse), 83,85 millions de dollars ont été perdus par 106 106 victimes en signant sur un site de phishing. Dans un échantillon de blocs lus par nous (mesure interne, non représentative), 47,6 % des droits de dépense sont illimités sur Ethereum et 34,2 % sur Avalanche. Ce n'est pas la majorité. Aucun chiffre propre à Avalanche pour les pertes. Sources : livrables/CHIFFRES.md B1, 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n'est pas un portefeuille : il ne tient aucune clé et ne signe rien. Il est pensé pour se poser devant le portefeuille existant (jamais essayé avec un vrai MetaMask, Core ou Rabby). Étage 1 : la personne écrit ce qu'elle veut faire avant de voir la demande, du code lit montant, jeton et adresse et compare. Correspond : le portefeuille s'ouvre seul après une seconde. Ne correspond pas : alerte, Annuler visible. Pas pu vérifier : on le dit. Étage 2 : un plancher de règles qui ne dépend pas de la phrase (droit illimité vers une adresse inconnue, appel délégué, changement de contrôle, signature illisible). D'après le code public de MetaMask lu le 11 oct. 2026, le montant illimité est affiché sans alerte propre à ce montant, pour une adresse non listée comme malveillante. Principe : Hold up ne lui laisse que ce que tu as écrit vouloir faire (un principe, pas une garantie : pour une signature, il alerte, la personne décide).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Bybit, février 2025 : l'interface affichait une transaction légitime, une autre charge allait aux signataires (analyses NCC Group, BlockSec, Check Point, Cyfrin). Notre scène est synthétique, adresses factices, rejeu du moteur sans portefeuille (demo_typologie/safe_signataire.mjs). Elle montre le décodage et le plancher de règles (danger même sans phrase), pas l'attaque de bout en bout. Une extension ne voit que ce qui passe par window.ethereum : si la page parle au matériel en direct, elle ne voit rien. Les analyses publiques ne confirment pas ce qu'affichait l'écran du matériel : ne pas l'affirmer.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Scénario S6 (X_scenarios_hors_metamask.md). MetaMask décode un Permit en demande de plafond de dépense (lu dans son code public) : il informe, mais il ne compare pas avec « me connecter ». Les messages de connexion valides ne passent pas par l'analyse Blockaid. Démo : site Glacier Rewards, en local. Le silence de MetaMask sur une chaîne locale ne prouve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écrits par nous : 228 sur 228, test de couverture. Contrôle scellé de la grille (1 079 paires, sha256 publié, une seule mesure par bras) : même auteur pour les phrases et les règles, un seul modèle (Clef-flash), un contexte par famille. Code seul : 86,6 % attrapés, 7,7 % de fausses alertes. Un modèle classe puis le code compare : 86,6 % et 1,3 %, plus prudent pas plus sûr. Modèle juge seul : 64,4 %, non retenu. Produit, banc synthétique : rappel rouge 71,3 %, 13,9 % de rouges sur honnêtes, 54,2 % d'honnêtes avec avertissement. Avalanche réel : 19 rouges sur 6 325 (0,30 %), 76,84 % d'avertissements, légitime présumé, blocs aléatoires avec robots. Ne jamais citer 0,30 % sans 76,84 %. Jeu aveugle (autre auteur, hash publié) pas passé. Sources : livrables/CHIFFRES.md A4, A5, A6, A11, A12, A13, B11.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Annuler est toujours visible. Transaction (approve, increaseAllowance) : sous conditions, Hold up remplace lui-même le droit trop large par le montant écrit avant le portefeuille (ligne « Droit limité à 50 USDC », Q17 : prouvé en Node, pas dans un vrai Chrome) ; sinon la ligne dit comment le ramener. Sur cet écart précis, plus d'attente de 30 s (Q16) ; dans les autres cas, ne pas citer de durée de retenue. Signature : le droit ne peut pas être limité, on le dit. Journal local de 500 lignes dans la version autonome ; chaîné par hachage dans la version serveur. Fiche d'incident sur demande, retrait de droits testé sur chaîne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Contenu complet : livrables/SLIDE_CONFORMITE.md. Un particulier n'est pas une entité régulée ; la plateforme qui intègre Hold up l'est. Nous ne nous déclarons conformes à aucun texte. Si le modèle se trompe : voir QR_JURY question 2. L'ancrage sur Fuji n'est pas déployé : on ne l'affirme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Fraude consentie : la demande correspond à ce que la personne veut faire, rien à comparer (la fraude à l'investissement pèse 7,2 Md$ de plaintes en 2025 selon l'IC3, hors périmètre). Intention vague : une relance, puis « je n'ai pas pu vérifier ». Contrat qui change à l'exécution : Added Protection de MetaMask le traite mieux. Ledger direct : une extension ne voit que window.ethereum.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Gratuit pour les personnes, des partenaires ensuite, sans prix fixé ni client. Harpie et Wallet Guard ont fermé en mars 2025 : le modèle reste une question ouverte. Pas de biographie. Ce qu'on demande : un test avec un vrai portefeuille et un jeu de cas écrit par quelqu'un d'autre. Une revue de sécurité interne a trouvé des contournements possibles dont un critique : corrections en cours, ne pas dire sécurisé.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54880"/>
            <a:ext cx="2743200" cy="228600"/>
          </a:xfrm>
          <a:prstGeom prst="rect">
            <a:avLst/>
          </a:prstGeom>
          <a:noFill/>
          <a:ln/>
        </p:spPr>
        <p:txBody>
          <a:bodyPr wrap="square" lIns="0" tIns="0" rIns="0" bIns="0" rtlCol="0" anchor="ctr"/>
          <a:lstStyle/>
          <a:p>
            <a:pPr indent="0" marL="0">
              <a:buNone/>
            </a:pPr>
            <a:r>
              <a:rPr lang="en-US" sz="1000" dirty="0">
                <a:solidFill>
                  <a:srgbClr val="595959"/>
                </a:solidFill>
                <a:latin typeface="Arial" pitchFamily="34" charset="0"/>
                <a:ea typeface="Arial" pitchFamily="34" charset="-122"/>
                <a:cs typeface="Arial" pitchFamily="34" charset="-120"/>
              </a:rPr>
              <a:t>Hold up</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Tout service peut être compromis</a:t>
            </a:r>
            <a:endParaRPr lang="en-US" sz="3000" dirty="0"/>
          </a:p>
        </p:txBody>
      </p:sp>
      <p:sp>
        <p:nvSpPr>
          <p:cNvPr id="4" name="Shape 1"/>
          <p:cNvSpPr/>
          <p:nvPr/>
        </p:nvSpPr>
        <p:spPr>
          <a:xfrm>
            <a:off x="457200" y="1371600"/>
            <a:ext cx="3931920" cy="3108960"/>
          </a:xfrm>
          <a:prstGeom prst="rect">
            <a:avLst/>
          </a:prstGeom>
          <a:solidFill>
            <a:srgbClr val="F5F5F5"/>
          </a:solidFill>
          <a:ln w="9525">
            <a:solidFill>
              <a:srgbClr val="E2E2E2"/>
            </a:solidFill>
            <a:prstDash val="solid"/>
          </a:ln>
        </p:spPr>
      </p:sp>
      <p:sp>
        <p:nvSpPr>
          <p:cNvPr id="5" name="Text 2"/>
          <p:cNvSpPr txBox="1"/>
          <p:nvPr/>
        </p:nvSpPr>
        <p:spPr>
          <a:xfrm>
            <a:off x="685800" y="1554480"/>
            <a:ext cx="3474720" cy="27432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Neve (site fictif)</a:t>
            </a:r>
            <a:endParaRPr lang="en-US" sz="1200" dirty="0"/>
          </a:p>
        </p:txBody>
      </p:sp>
      <p:sp>
        <p:nvSpPr>
          <p:cNvPr id="6" name="Text 3"/>
          <p:cNvSpPr txBox="1"/>
          <p:nvPr/>
        </p:nvSpPr>
        <p:spPr>
          <a:xfrm>
            <a:off x="685800" y="1920240"/>
            <a:ext cx="3474720" cy="64008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Échanger 50 USDC contre AVAX</a:t>
            </a:r>
            <a:endParaRPr lang="en-US" sz="2000" dirty="0"/>
          </a:p>
        </p:txBody>
      </p:sp>
      <p:sp>
        <p:nvSpPr>
          <p:cNvPr id="7" name="Text 4"/>
          <p:cNvSpPr txBox="1"/>
          <p:nvPr/>
        </p:nvSpPr>
        <p:spPr>
          <a:xfrm>
            <a:off x="685800" y="2697480"/>
            <a:ext cx="3474720" cy="640080"/>
          </a:xfrm>
          <a:prstGeom prst="rect">
            <a:avLst/>
          </a:prstGeom>
          <a:noFill/>
          <a:ln/>
        </p:spPr>
        <p:txBody>
          <a:bodyPr wrap="square" lIns="0" tIns="0" rIns="0" bIns="0" rtlCol="0" anchor="t"/>
          <a:lstStyle/>
          <a:p>
            <a:pPr indent="0" marL="0">
              <a:buNone/>
            </a:pPr>
            <a:r>
              <a:rPr lang="en-US" sz="1400" dirty="0">
                <a:solidFill>
                  <a:srgbClr val="595959"/>
                </a:solidFill>
                <a:latin typeface="Arial" pitchFamily="34" charset="0"/>
                <a:ea typeface="Arial" pitchFamily="34" charset="-122"/>
                <a:cs typeface="Arial" pitchFamily="34" charset="-120"/>
              </a:rPr>
              <a:t>Étape 1 : autoriser le routeur à dépenser votre USDC (illimité).</a:t>
            </a:r>
            <a:endParaRPr lang="en-US" sz="1400" dirty="0"/>
          </a:p>
        </p:txBody>
      </p:sp>
      <p:sp>
        <p:nvSpPr>
          <p:cNvPr id="8" name="Shape 5"/>
          <p:cNvSpPr/>
          <p:nvPr/>
        </p:nvSpPr>
        <p:spPr>
          <a:xfrm>
            <a:off x="685800" y="3520440"/>
            <a:ext cx="2377440" cy="502920"/>
          </a:xfrm>
          <a:prstGeom prst="roundRect">
            <a:avLst>
              <a:gd name="adj" fmla="val 18182"/>
            </a:avLst>
          </a:prstGeom>
          <a:solidFill>
            <a:srgbClr val="000000"/>
          </a:solidFill>
          <a:ln w="12700">
            <a:solidFill>
              <a:srgbClr val="000000"/>
            </a:solidFill>
            <a:prstDash val="solid"/>
          </a:ln>
        </p:spPr>
      </p:sp>
      <p:sp>
        <p:nvSpPr>
          <p:cNvPr id="9" name="Text 6"/>
          <p:cNvSpPr txBox="1"/>
          <p:nvPr/>
        </p:nvSpPr>
        <p:spPr>
          <a:xfrm>
            <a:off x="685800" y="3520440"/>
            <a:ext cx="2377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Autoriser</a:t>
            </a:r>
            <a:endParaRPr lang="en-US" sz="1400" dirty="0"/>
          </a:p>
        </p:txBody>
      </p:sp>
      <p:sp>
        <p:nvSpPr>
          <p:cNvPr id="10" name="Text 7"/>
          <p:cNvSpPr txBox="1"/>
          <p:nvPr/>
        </p:nvSpPr>
        <p:spPr>
          <a:xfrm>
            <a:off x="4846320" y="1371600"/>
            <a:ext cx="3840480" cy="822960"/>
          </a:xfrm>
          <a:prstGeom prst="rect">
            <a:avLst/>
          </a:prstGeom>
          <a:noFill/>
          <a:ln/>
        </p:spPr>
        <p:txBody>
          <a:bodyPr wrap="square" lIns="0" tIns="0" rIns="0" bIns="0" rtlCol="0" anchor="t"/>
          <a:lstStyle/>
          <a:p>
            <a:pPr indent="0" marL="0">
              <a:buNone/>
            </a:pPr>
            <a:r>
              <a:rPr lang="en-US" sz="4800" b="1" dirty="0">
                <a:solidFill>
                  <a:srgbClr val="D92D20"/>
                </a:solidFill>
                <a:latin typeface="Arial" pitchFamily="34" charset="0"/>
                <a:ea typeface="Arial" pitchFamily="34" charset="-122"/>
                <a:cs typeface="Arial" pitchFamily="34" charset="-120"/>
              </a:rPr>
              <a:t>83,85 M$</a:t>
            </a:r>
            <a:endParaRPr lang="en-US" sz="4800" dirty="0"/>
          </a:p>
        </p:txBody>
      </p:sp>
      <p:sp>
        <p:nvSpPr>
          <p:cNvPr id="11" name="Text 8"/>
          <p:cNvSpPr txBox="1"/>
          <p:nvPr/>
        </p:nvSpPr>
        <p:spPr>
          <a:xfrm>
            <a:off x="4846320" y="2194560"/>
            <a:ext cx="3840480" cy="7315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perdus par 106 106 victimes en 2025 en signant sur un site de phishing (ScamSniffer, EVM, borne basse)</a:t>
            </a:r>
            <a:endParaRPr lang="en-US" sz="1400" dirty="0"/>
          </a:p>
        </p:txBody>
      </p:sp>
      <p:sp>
        <p:nvSpPr>
          <p:cNvPr id="12" name="Text 9"/>
          <p:cNvSpPr txBox="1"/>
          <p:nvPr/>
        </p:nvSpPr>
        <p:spPr>
          <a:xfrm>
            <a:off x="4846320" y="3108960"/>
            <a:ext cx="3840480" cy="36576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47,6 % Ethereum  |  34,2 % Avalanche</a:t>
            </a:r>
            <a:endParaRPr lang="en-US" sz="1600" dirty="0"/>
          </a:p>
        </p:txBody>
      </p:sp>
      <p:sp>
        <p:nvSpPr>
          <p:cNvPr id="13" name="Text 10"/>
          <p:cNvSpPr txBox="1"/>
          <p:nvPr/>
        </p:nvSpPr>
        <p:spPr>
          <a:xfrm>
            <a:off x="4846320" y="3520440"/>
            <a:ext cx="3840480" cy="73152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des droits de dépense lus dans nos échantillons de blocs sont illimités. Mesure interne, non représentative.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Une couche indépendante, deux étages</a:t>
            </a:r>
            <a:endParaRPr lang="en-US" sz="3000" dirty="0"/>
          </a:p>
        </p:txBody>
      </p:sp>
      <p:sp>
        <p:nvSpPr>
          <p:cNvPr id="4" name="Shape 1"/>
          <p:cNvSpPr/>
          <p:nvPr/>
        </p:nvSpPr>
        <p:spPr>
          <a:xfrm>
            <a:off x="457200" y="1371600"/>
            <a:ext cx="2560320" cy="1097280"/>
          </a:xfrm>
          <a:prstGeom prst="rect">
            <a:avLst/>
          </a:prstGeom>
          <a:solidFill>
            <a:srgbClr val="F5F5F5"/>
          </a:solidFill>
          <a:ln w="9525">
            <a:solidFill>
              <a:srgbClr val="E2E2E2"/>
            </a:solidFill>
            <a:prstDash val="solid"/>
          </a:ln>
        </p:spPr>
      </p:sp>
      <p:sp>
        <p:nvSpPr>
          <p:cNvPr id="5" name="Text 2"/>
          <p:cNvSpPr txBox="1"/>
          <p:nvPr/>
        </p:nvSpPr>
        <p:spPr>
          <a:xfrm>
            <a:off x="594360" y="1463040"/>
            <a:ext cx="2286000" cy="274320"/>
          </a:xfrm>
          <a:prstGeom prst="rect">
            <a:avLst/>
          </a:prstGeom>
          <a:noFill/>
          <a:ln/>
        </p:spPr>
        <p:txBody>
          <a:bodyPr wrap="square" lIns="0" tIns="0" rIns="0" bIns="0" rtlCol="0" anchor="t"/>
          <a:lstStyle/>
          <a:p>
            <a:pPr indent="0" marL="0">
              <a:buNone/>
            </a:pPr>
            <a:r>
              <a:rPr lang="en-US" sz="1300" b="1" dirty="0">
                <a:solidFill>
                  <a:srgbClr val="000000"/>
                </a:solidFill>
                <a:latin typeface="Arial" pitchFamily="34" charset="0"/>
                <a:ea typeface="Arial" pitchFamily="34" charset="-122"/>
                <a:cs typeface="Arial" pitchFamily="34" charset="-120"/>
              </a:rPr>
              <a:t>1. J'écris</a:t>
            </a:r>
            <a:endParaRPr lang="en-US" sz="1300" dirty="0"/>
          </a:p>
        </p:txBody>
      </p:sp>
      <p:sp>
        <p:nvSpPr>
          <p:cNvPr id="6" name="Text 3"/>
          <p:cNvSpPr txBox="1"/>
          <p:nvPr/>
        </p:nvSpPr>
        <p:spPr>
          <a:xfrm>
            <a:off x="594360" y="1828800"/>
            <a:ext cx="2286000" cy="54864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échanger 50 USDC contre AVAX</a:t>
            </a:r>
            <a:endParaRPr lang="en-US" sz="1400" dirty="0"/>
          </a:p>
        </p:txBody>
      </p:sp>
      <p:sp>
        <p:nvSpPr>
          <p:cNvPr id="7" name="Shape 4"/>
          <p:cNvSpPr/>
          <p:nvPr/>
        </p:nvSpPr>
        <p:spPr>
          <a:xfrm>
            <a:off x="3291840" y="1371600"/>
            <a:ext cx="2560320" cy="1097280"/>
          </a:xfrm>
          <a:prstGeom prst="rect">
            <a:avLst/>
          </a:prstGeom>
          <a:solidFill>
            <a:srgbClr val="F5F5F5"/>
          </a:solidFill>
          <a:ln w="9525">
            <a:solidFill>
              <a:srgbClr val="E2E2E2"/>
            </a:solidFill>
            <a:prstDash val="solid"/>
          </a:ln>
        </p:spPr>
      </p:sp>
      <p:sp>
        <p:nvSpPr>
          <p:cNvPr id="8" name="Text 5"/>
          <p:cNvSpPr txBox="1"/>
          <p:nvPr/>
        </p:nvSpPr>
        <p:spPr>
          <a:xfrm>
            <a:off x="3429000" y="1463040"/>
            <a:ext cx="2286000" cy="274320"/>
          </a:xfrm>
          <a:prstGeom prst="rect">
            <a:avLst/>
          </a:prstGeom>
          <a:noFill/>
          <a:ln/>
        </p:spPr>
        <p:txBody>
          <a:bodyPr wrap="square" lIns="0" tIns="0" rIns="0" bIns="0" rtlCol="0" anchor="t"/>
          <a:lstStyle/>
          <a:p>
            <a:pPr indent="0" marL="0">
              <a:buNone/>
            </a:pPr>
            <a:r>
              <a:rPr lang="en-US" sz="1300" b="1" dirty="0">
                <a:solidFill>
                  <a:srgbClr val="000000"/>
                </a:solidFill>
                <a:latin typeface="Arial" pitchFamily="34" charset="0"/>
                <a:ea typeface="Arial" pitchFamily="34" charset="-122"/>
                <a:cs typeface="Arial" pitchFamily="34" charset="-120"/>
              </a:rPr>
              <a:t>2. La demande arrive</a:t>
            </a:r>
            <a:endParaRPr lang="en-US" sz="1300" dirty="0"/>
          </a:p>
        </p:txBody>
      </p:sp>
      <p:sp>
        <p:nvSpPr>
          <p:cNvPr id="9" name="Text 6"/>
          <p:cNvSpPr txBox="1"/>
          <p:nvPr/>
        </p:nvSpPr>
        <p:spPr>
          <a:xfrm>
            <a:off x="3429000" y="1828800"/>
            <a:ext cx="2286000" cy="54864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droit de dépense illimité sur l'USDC</a:t>
            </a:r>
            <a:endParaRPr lang="en-US" sz="1400" dirty="0"/>
          </a:p>
        </p:txBody>
      </p:sp>
      <p:sp>
        <p:nvSpPr>
          <p:cNvPr id="10" name="Shape 7"/>
          <p:cNvSpPr/>
          <p:nvPr/>
        </p:nvSpPr>
        <p:spPr>
          <a:xfrm>
            <a:off x="6126480" y="1371600"/>
            <a:ext cx="2560320" cy="1097280"/>
          </a:xfrm>
          <a:prstGeom prst="rect">
            <a:avLst/>
          </a:prstGeom>
          <a:solidFill>
            <a:srgbClr val="FFFFFF"/>
          </a:solidFill>
          <a:ln w="9525">
            <a:solidFill>
              <a:srgbClr val="D92D20"/>
            </a:solidFill>
            <a:prstDash val="solid"/>
          </a:ln>
        </p:spPr>
      </p:sp>
      <p:sp>
        <p:nvSpPr>
          <p:cNvPr id="11" name="Text 8"/>
          <p:cNvSpPr txBox="1"/>
          <p:nvPr/>
        </p:nvSpPr>
        <p:spPr>
          <a:xfrm>
            <a:off x="6263640" y="1463040"/>
            <a:ext cx="2286000" cy="274320"/>
          </a:xfrm>
          <a:prstGeom prst="rect">
            <a:avLst/>
          </a:prstGeom>
          <a:noFill/>
          <a:ln/>
        </p:spPr>
        <p:txBody>
          <a:bodyPr wrap="square" lIns="0" tIns="0" rIns="0" bIns="0" rtlCol="0" anchor="t"/>
          <a:lstStyle/>
          <a:p>
            <a:pPr indent="0" marL="0">
              <a:buNone/>
            </a:pPr>
            <a:r>
              <a:rPr lang="en-US" sz="1300" b="1" dirty="0">
                <a:solidFill>
                  <a:srgbClr val="D92D20"/>
                </a:solidFill>
                <a:latin typeface="Arial" pitchFamily="34" charset="0"/>
                <a:ea typeface="Arial" pitchFamily="34" charset="-122"/>
                <a:cs typeface="Arial" pitchFamily="34" charset="-120"/>
              </a:rPr>
              <a:t>3. Hold up</a:t>
            </a:r>
            <a:endParaRPr lang="en-US" sz="1300" dirty="0"/>
          </a:p>
        </p:txBody>
      </p:sp>
      <p:sp>
        <p:nvSpPr>
          <p:cNvPr id="12" name="Text 9"/>
          <p:cNvSpPr txBox="1"/>
          <p:nvPr/>
        </p:nvSpPr>
        <p:spPr>
          <a:xfrm>
            <a:off x="6263640" y="1828800"/>
            <a:ext cx="2286000" cy="548640"/>
          </a:xfrm>
          <a:prstGeom prst="rect">
            <a:avLst/>
          </a:prstGeom>
          <a:noFill/>
          <a:ln/>
        </p:spPr>
        <p:txBody>
          <a:bodyPr wrap="square" lIns="0" tIns="0" rIns="0" bIns="0" rtlCol="0" anchor="t"/>
          <a:lstStyle/>
          <a:p>
            <a:pPr indent="0" marL="0">
              <a:buNone/>
            </a:pPr>
            <a:r>
              <a:rPr lang="en-US" sz="1400" b="1" dirty="0">
                <a:solidFill>
                  <a:srgbClr val="D92D20"/>
                </a:solidFill>
                <a:latin typeface="Arial" pitchFamily="34" charset="0"/>
                <a:ea typeface="Arial" pitchFamily="34" charset="-122"/>
                <a:cs typeface="Arial" pitchFamily="34" charset="-120"/>
              </a:rPr>
              <a:t>Ça ne correspond pas à ce que tu as écrit.</a:t>
            </a:r>
            <a:endParaRPr lang="en-US" sz="1400" dirty="0"/>
          </a:p>
        </p:txBody>
      </p:sp>
      <p:sp>
        <p:nvSpPr>
          <p:cNvPr id="13" name="Text 10"/>
          <p:cNvSpPr txBox="1"/>
          <p:nvPr/>
        </p:nvSpPr>
        <p:spPr>
          <a:xfrm>
            <a:off x="457200" y="2743200"/>
            <a:ext cx="822960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0000"/>
                </a:solidFill>
                <a:latin typeface="Arial" pitchFamily="34" charset="0"/>
                <a:ea typeface="Arial" pitchFamily="34" charset="-122"/>
                <a:cs typeface="Arial" pitchFamily="34" charset="-120"/>
              </a:rPr>
              <a:t>Étage 1 : ce que tu as écrit contre ce que la demande fait. Correspond : le portefeuille s’ouvre seul après une seconde.</a:t>
            </a:r>
            <a:endParaRPr lang="en-US" sz="1400" dirty="0"/>
          </a:p>
          <a:p>
            <a:pPr marL="342900" indent="-342900">
              <a:spcAft>
                <a:spcPts val="600"/>
              </a:spcAft>
              <a:buSzPct val="100000"/>
              <a:buChar char="•"/>
            </a:pPr>
            <a:r>
              <a:rPr lang="en-US" sz="1400" dirty="0">
                <a:solidFill>
                  <a:srgbClr val="000000"/>
                </a:solidFill>
                <a:latin typeface="Arial" pitchFamily="34" charset="0"/>
                <a:ea typeface="Arial" pitchFamily="34" charset="-122"/>
                <a:cs typeface="Arial" pitchFamily="34" charset="-120"/>
              </a:rPr>
              <a:t>Étage 2 : un plancher de règles, même sans phrase. Droit illimité vers une adresse inconnue, appel délégué, signature illisible.</a:t>
            </a:r>
            <a:endParaRPr lang="en-US" sz="1400" dirty="0"/>
          </a:p>
          <a:p>
            <a:pPr marL="342900" indent="-342900">
              <a:spcAft>
                <a:spcPts val="600"/>
              </a:spcAft>
              <a:buSzPct val="100000"/>
              <a:buChar char="•"/>
            </a:pPr>
            <a:r>
              <a:rPr lang="en-US" sz="1400" dirty="0">
                <a:solidFill>
                  <a:srgbClr val="000000"/>
                </a:solidFill>
                <a:latin typeface="Arial" pitchFamily="34" charset="0"/>
                <a:ea typeface="Arial" pitchFamily="34" charset="-122"/>
                <a:cs typeface="Arial" pitchFamily="34" charset="-120"/>
              </a:rPr>
              <a:t>Pas pu vérifier : la fenêtre le dit, jamais « correspond » par défaut. Annuler reste visible.</a:t>
            </a:r>
            <a:endParaRPr lang="en-US" sz="1400" dirty="0"/>
          </a:p>
        </p:txBody>
      </p:sp>
      <p:sp>
        <p:nvSpPr>
          <p:cNvPr id="14" name="Text 11"/>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Pas un portefeuille : aucune clé, rien signé. Les signaux du portefeuille restent.</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Le signataire aveugle (cas Bybit)</a:t>
            </a:r>
            <a:endParaRPr lang="en-US" sz="3000" dirty="0"/>
          </a:p>
        </p:txBody>
      </p:sp>
      <p:sp>
        <p:nvSpPr>
          <p:cNvPr id="4" name="Shape 1"/>
          <p:cNvSpPr/>
          <p:nvPr/>
        </p:nvSpPr>
        <p:spPr>
          <a:xfrm>
            <a:off x="457200" y="1371600"/>
            <a:ext cx="4023360" cy="2011680"/>
          </a:xfrm>
          <a:prstGeom prst="rect">
            <a:avLst/>
          </a:prstGeom>
          <a:solidFill>
            <a:srgbClr val="F5F5F5"/>
          </a:solidFill>
          <a:ln w="9525">
            <a:solidFill>
              <a:srgbClr val="E2E2E2"/>
            </a:solidFill>
            <a:prstDash val="solid"/>
          </a:ln>
        </p:spPr>
      </p:sp>
      <p:sp>
        <p:nvSpPr>
          <p:cNvPr id="5" name="Text 2"/>
          <p:cNvSpPr txBox="1"/>
          <p:nvPr/>
        </p:nvSpPr>
        <p:spPr>
          <a:xfrm>
            <a:off x="640080" y="1463040"/>
            <a:ext cx="3657600" cy="274320"/>
          </a:xfrm>
          <a:prstGeom prst="rect">
            <a:avLst/>
          </a:prstGeom>
          <a:noFill/>
          <a:ln/>
        </p:spPr>
        <p:txBody>
          <a:bodyPr wrap="square" lIns="0" tIns="0" rIns="0" bIns="0" rtlCol="0" anchor="t"/>
          <a:lstStyle/>
          <a:p>
            <a:pPr indent="0" marL="0">
              <a:buNone/>
            </a:pPr>
            <a:r>
              <a:rPr lang="en-US" sz="1300" b="1" dirty="0">
                <a:solidFill>
                  <a:srgbClr val="595959"/>
                </a:solidFill>
                <a:latin typeface="Arial" pitchFamily="34" charset="0"/>
                <a:ea typeface="Arial" pitchFamily="34" charset="-122"/>
                <a:cs typeface="Arial" pitchFamily="34" charset="-120"/>
              </a:rPr>
              <a:t>J'ai écrit</a:t>
            </a:r>
            <a:endParaRPr lang="en-US" sz="1300" dirty="0"/>
          </a:p>
        </p:txBody>
      </p:sp>
      <p:sp>
        <p:nvSpPr>
          <p:cNvPr id="6" name="Text 3"/>
          <p:cNvSpPr txBox="1"/>
          <p:nvPr/>
        </p:nvSpPr>
        <p:spPr>
          <a:xfrm>
            <a:off x="640080" y="1783080"/>
            <a:ext cx="3657600" cy="45720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virer 20 USDC à Paul</a:t>
            </a:r>
            <a:endParaRPr lang="en-US" sz="2000" dirty="0"/>
          </a:p>
        </p:txBody>
      </p:sp>
      <p:sp>
        <p:nvSpPr>
          <p:cNvPr id="7" name="Shape 4"/>
          <p:cNvSpPr/>
          <p:nvPr/>
        </p:nvSpPr>
        <p:spPr>
          <a:xfrm>
            <a:off x="4663440" y="1371600"/>
            <a:ext cx="4023360" cy="2011680"/>
          </a:xfrm>
          <a:prstGeom prst="rect">
            <a:avLst/>
          </a:prstGeom>
          <a:solidFill>
            <a:srgbClr val="FFFFFF"/>
          </a:solidFill>
          <a:ln w="9525">
            <a:solidFill>
              <a:srgbClr val="D92D20"/>
            </a:solidFill>
            <a:prstDash val="solid"/>
          </a:ln>
        </p:spPr>
      </p:sp>
      <p:sp>
        <p:nvSpPr>
          <p:cNvPr id="8" name="Text 5"/>
          <p:cNvSpPr txBox="1"/>
          <p:nvPr/>
        </p:nvSpPr>
        <p:spPr>
          <a:xfrm>
            <a:off x="4846320" y="1463040"/>
            <a:ext cx="3657600" cy="274320"/>
          </a:xfrm>
          <a:prstGeom prst="rect">
            <a:avLst/>
          </a:prstGeom>
          <a:noFill/>
          <a:ln/>
        </p:spPr>
        <p:txBody>
          <a:bodyPr wrap="square" lIns="0" tIns="0" rIns="0" bIns="0" rtlCol="0" anchor="t"/>
          <a:lstStyle/>
          <a:p>
            <a:pPr indent="0" marL="0">
              <a:buNone/>
            </a:pPr>
            <a:r>
              <a:rPr lang="en-US" sz="1300" b="1" dirty="0">
                <a:solidFill>
                  <a:srgbClr val="D92D20"/>
                </a:solidFill>
                <a:latin typeface="Arial" pitchFamily="34" charset="0"/>
                <a:ea typeface="Arial" pitchFamily="34" charset="-122"/>
                <a:cs typeface="Arial" pitchFamily="34" charset="-120"/>
              </a:rPr>
              <a:t>La demande est</a:t>
            </a:r>
            <a:endParaRPr lang="en-US" sz="1300" dirty="0"/>
          </a:p>
        </p:txBody>
      </p:sp>
      <p:sp>
        <p:nvSpPr>
          <p:cNvPr id="9" name="Text 6"/>
          <p:cNvSpPr txBox="1"/>
          <p:nvPr/>
        </p:nvSpPr>
        <p:spPr>
          <a:xfrm>
            <a:off x="4846320" y="1783080"/>
            <a:ext cx="3657600" cy="1280160"/>
          </a:xfrm>
          <a:prstGeom prst="rect">
            <a:avLst/>
          </a:prstGeom>
          <a:noFill/>
          <a:ln/>
        </p:spPr>
        <p:txBody>
          <a:bodyPr wrap="square" lIns="0" tIns="0" rIns="0" bIns="0" rtlCol="0" anchor="t"/>
          <a:lstStyle/>
          <a:p>
            <a:pPr indent="0" marL="0">
              <a:buNone/>
            </a:pPr>
            <a:r>
              <a:rPr lang="en-US" sz="1700" b="1" dirty="0">
                <a:solidFill>
                  <a:srgbClr val="D92D20"/>
                </a:solidFill>
                <a:latin typeface="Arial" pitchFamily="34" charset="0"/>
                <a:ea typeface="Arial" pitchFamily="34" charset="-122"/>
                <a:cs typeface="Arial" pitchFamily="34" charset="-120"/>
              </a:rPr>
              <a:t>un appel délégué vers un contrat inconnu, qui change le code du coffre</a:t>
            </a:r>
            <a:endParaRPr lang="en-US" sz="1700" dirty="0"/>
          </a:p>
        </p:txBody>
      </p:sp>
      <p:sp>
        <p:nvSpPr>
          <p:cNvPr id="10" name="Text 7"/>
          <p:cNvSpPr txBox="1"/>
          <p:nvPr/>
        </p:nvSpPr>
        <p:spPr>
          <a:xfrm>
            <a:off x="457200" y="3657600"/>
            <a:ext cx="82296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Ça ne correspond pas.</a:t>
            </a:r>
            <a:endParaRPr lang="en-US" sz="2000" dirty="0"/>
          </a:p>
        </p:txBody>
      </p:sp>
      <p:sp>
        <p:nvSpPr>
          <p:cNvPr id="11" name="Text 8"/>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Scène synthétique, adresses factices. Elle montre le décodage, pas l’attaque.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 Me connecter » qui signe un droit</a:t>
            </a:r>
            <a:endParaRPr lang="en-US" sz="3000" dirty="0"/>
          </a:p>
        </p:txBody>
      </p:sp>
      <p:sp>
        <p:nvSpPr>
          <p:cNvPr id="4" name="Shape 1"/>
          <p:cNvSpPr/>
          <p:nvPr/>
        </p:nvSpPr>
        <p:spPr>
          <a:xfrm>
            <a:off x="457200" y="1371600"/>
            <a:ext cx="4023360" cy="2377440"/>
          </a:xfrm>
          <a:prstGeom prst="rect">
            <a:avLst/>
          </a:prstGeom>
          <a:solidFill>
            <a:srgbClr val="F5F5F5"/>
          </a:solidFill>
          <a:ln w="9525">
            <a:solidFill>
              <a:srgbClr val="E2E2E2"/>
            </a:solidFill>
            <a:prstDash val="solid"/>
          </a:ln>
        </p:spPr>
      </p:sp>
      <p:sp>
        <p:nvSpPr>
          <p:cNvPr id="5" name="Text 2"/>
          <p:cNvSpPr txBox="1"/>
          <p:nvPr/>
        </p:nvSpPr>
        <p:spPr>
          <a:xfrm>
            <a:off x="640080" y="1463040"/>
            <a:ext cx="3657600" cy="274320"/>
          </a:xfrm>
          <a:prstGeom prst="rect">
            <a:avLst/>
          </a:prstGeom>
          <a:noFill/>
          <a:ln/>
        </p:spPr>
        <p:txBody>
          <a:bodyPr wrap="square" lIns="0" tIns="0" rIns="0" bIns="0" rtlCol="0" anchor="t"/>
          <a:lstStyle/>
          <a:p>
            <a:pPr indent="0" marL="0">
              <a:buNone/>
            </a:pPr>
            <a:r>
              <a:rPr lang="en-US" sz="1300" b="1" dirty="0">
                <a:solidFill>
                  <a:srgbClr val="595959"/>
                </a:solidFill>
                <a:latin typeface="Arial" pitchFamily="34" charset="0"/>
                <a:ea typeface="Arial" pitchFamily="34" charset="-122"/>
                <a:cs typeface="Arial" pitchFamily="34" charset="-120"/>
              </a:rPr>
              <a:t>MetaMask affiche</a:t>
            </a:r>
            <a:endParaRPr lang="en-US" sz="1300" dirty="0"/>
          </a:p>
        </p:txBody>
      </p:sp>
      <p:sp>
        <p:nvSpPr>
          <p:cNvPr id="6" name="Text 3"/>
          <p:cNvSpPr txBox="1"/>
          <p:nvPr/>
        </p:nvSpPr>
        <p:spPr>
          <a:xfrm>
            <a:off x="640080" y="1828800"/>
            <a:ext cx="3657600" cy="1645920"/>
          </a:xfrm>
          <a:prstGeom prst="rect">
            <a:avLst/>
          </a:prstGeom>
          <a:noFill/>
          <a:ln/>
        </p:spPr>
        <p:txBody>
          <a:bodyPr wrap="square" lIns="0" tIns="0" rIns="0" bIns="0" rtlCol="0" anchor="t"/>
          <a:lstStyle/>
          <a:p>
            <a:pPr indent="0" marL="0">
              <a:buNone/>
            </a:pPr>
            <a:r>
              <a:rPr lang="en-US" sz="1700" dirty="0">
                <a:solidFill>
                  <a:srgbClr val="000000"/>
                </a:solidFill>
                <a:latin typeface="Arial" pitchFamily="34" charset="0"/>
                <a:ea typeface="Arial" pitchFamily="34" charset="-122"/>
                <a:cs typeface="Arial" pitchFamily="34" charset="-120"/>
              </a:rPr>
              <a:t>Une demande de plafond de dépense. Il ne sait pas que tu voulais seulement te connecter.</a:t>
            </a:r>
            <a:endParaRPr lang="en-US" sz="1700" dirty="0"/>
          </a:p>
        </p:txBody>
      </p:sp>
      <p:sp>
        <p:nvSpPr>
          <p:cNvPr id="7" name="Shape 4"/>
          <p:cNvSpPr/>
          <p:nvPr/>
        </p:nvSpPr>
        <p:spPr>
          <a:xfrm>
            <a:off x="4663440" y="1371600"/>
            <a:ext cx="4023360" cy="2377440"/>
          </a:xfrm>
          <a:prstGeom prst="rect">
            <a:avLst/>
          </a:prstGeom>
          <a:solidFill>
            <a:srgbClr val="FFFFFF"/>
          </a:solidFill>
          <a:ln w="9525">
            <a:solidFill>
              <a:srgbClr val="D92D20"/>
            </a:solidFill>
            <a:prstDash val="solid"/>
          </a:ln>
        </p:spPr>
      </p:sp>
      <p:sp>
        <p:nvSpPr>
          <p:cNvPr id="8" name="Text 5"/>
          <p:cNvSpPr txBox="1"/>
          <p:nvPr/>
        </p:nvSpPr>
        <p:spPr>
          <a:xfrm>
            <a:off x="4846320" y="1463040"/>
            <a:ext cx="3657600" cy="274320"/>
          </a:xfrm>
          <a:prstGeom prst="rect">
            <a:avLst/>
          </a:prstGeom>
          <a:noFill/>
          <a:ln/>
        </p:spPr>
        <p:txBody>
          <a:bodyPr wrap="square" lIns="0" tIns="0" rIns="0" bIns="0" rtlCol="0" anchor="t"/>
          <a:lstStyle/>
          <a:p>
            <a:pPr indent="0" marL="0">
              <a:buNone/>
            </a:pPr>
            <a:r>
              <a:rPr lang="en-US" sz="1300" b="1" dirty="0">
                <a:solidFill>
                  <a:srgbClr val="D92D20"/>
                </a:solidFill>
                <a:latin typeface="Arial" pitchFamily="34" charset="0"/>
                <a:ea typeface="Arial" pitchFamily="34" charset="-122"/>
                <a:cs typeface="Arial" pitchFamily="34" charset="-120"/>
              </a:rPr>
              <a:t>Hold up, après « me connecter »</a:t>
            </a:r>
            <a:endParaRPr lang="en-US" sz="1300" dirty="0"/>
          </a:p>
        </p:txBody>
      </p:sp>
      <p:sp>
        <p:nvSpPr>
          <p:cNvPr id="9" name="Text 6"/>
          <p:cNvSpPr txBox="1"/>
          <p:nvPr/>
        </p:nvSpPr>
        <p:spPr>
          <a:xfrm>
            <a:off x="4846320" y="1828800"/>
            <a:ext cx="3657600" cy="1645920"/>
          </a:xfrm>
          <a:prstGeom prst="rect">
            <a:avLst/>
          </a:prstGeom>
          <a:noFill/>
          <a:ln/>
        </p:spPr>
        <p:txBody>
          <a:bodyPr wrap="square" lIns="0" tIns="0" rIns="0" bIns="0" rtlCol="0" anchor="t"/>
          <a:lstStyle/>
          <a:p>
            <a:pPr indent="0" marL="0">
              <a:buNone/>
            </a:pPr>
            <a:r>
              <a:rPr lang="en-US" sz="1700" b="1" dirty="0">
                <a:solidFill>
                  <a:srgbClr val="D92D20"/>
                </a:solidFill>
                <a:latin typeface="Arial" pitchFamily="34" charset="0"/>
                <a:ea typeface="Arial" pitchFamily="34" charset="-122"/>
                <a:cs typeface="Arial" pitchFamily="34" charset="-120"/>
              </a:rPr>
              <a:t>Ça ne correspond pas : une connexion ne devrait pas donner un droit de dépense.</a:t>
            </a:r>
            <a:endParaRPr lang="en-US" sz="1700" dirty="0"/>
          </a:p>
        </p:txBody>
      </p:sp>
      <p:sp>
        <p:nvSpPr>
          <p:cNvPr id="10" name="Text 7"/>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Démo locale : le résultat ne dit rien du comportement de MetaMask en production.</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2600" b="1" dirty="0">
                <a:solidFill>
                  <a:srgbClr val="000000"/>
                </a:solidFill>
                <a:latin typeface="Arial" pitchFamily="34" charset="0"/>
                <a:ea typeface="Arial" pitchFamily="34" charset="-122"/>
                <a:cs typeface="Arial" pitchFamily="34" charset="-120"/>
              </a:rPr>
              <a:t>Ce que nous mesurons, et ce que nous ne savons pas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2834640"/>
                <a:gridCol w="3383280"/>
                <a:gridCol w="2011680"/>
              </a:tblGrid>
              <a:tr h="292608">
                <a:tc>
                  <a:txBody>
                    <a:bodyPr/>
                    <a:lstStyle/>
                    <a:p>
                      <a:pPr indent="0" marL="0">
                        <a:buNone/>
                      </a:pPr>
                      <a:r>
                        <a:rPr lang="en-US" sz="1100" b="1" dirty="0">
                          <a:solidFill>
                            <a:srgbClr val="FFFFFF"/>
                          </a:solidFill>
                          <a:latin typeface="Arial" pitchFamily="34" charset="0"/>
                          <a:ea typeface="Arial" pitchFamily="34" charset="-122"/>
                          <a:cs typeface="Arial" pitchFamily="34" charset="-120"/>
                        </a:rPr>
                        <a:t>Jeu et statut</a:t>
                      </a:r>
                      <a:endParaRPr lang="en-US" sz="1100" dirty="0">
                        <a:latin typeface="Arial" charset="0"/>
                        <a:ea typeface="Arial" charset="0"/>
                        <a:cs typeface="Arial" charset="0"/>
                      </a:endParaRPr>
                    </a:p>
                  </a:txBody>
                  <a:tcPr marL="91440" marR="91440" marT="45720" marB="45720">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0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Résultat</a:t>
                      </a:r>
                      <a:endParaRPr lang="en-US" sz="1100" dirty="0">
                        <a:latin typeface="Arial" charset="0"/>
                        <a:ea typeface="Arial" charset="0"/>
                        <a:cs typeface="Arial" charset="0"/>
                      </a:endParaRPr>
                    </a:p>
                  </a:txBody>
                  <a:tcPr marL="91440" marR="91440" marT="45720" marB="45720">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00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Lecture</a:t>
                      </a:r>
                      <a:endParaRPr lang="en-US" sz="1100" dirty="0">
                        <a:latin typeface="Arial" charset="0"/>
                        <a:ea typeface="Arial" charset="0"/>
                        <a:cs typeface="Arial" charset="0"/>
                      </a:endParaRPr>
                    </a:p>
                  </a:txBody>
                  <a:tcPr marL="91440" marR="91440" marT="45720" marB="45720">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solidFill>
                      <a:srgbClr val="000000"/>
                    </a:solidFill>
                  </a:tcPr>
                </a:tc>
              </a:tr>
              <a:tr h="502920">
                <a:tc>
                  <a:txBody>
                    <a:bodyPr/>
                    <a:lstStyle/>
                    <a:p>
                      <a:pPr indent="0" marL="0">
                        <a:buNone/>
                      </a:pPr>
                      <a:r>
                        <a:rPr lang="en-US" sz="1100" b="1" dirty="0">
                          <a:solidFill>
                            <a:srgbClr val="000000"/>
                          </a:solidFill>
                          <a:latin typeface="Arial" pitchFamily="34" charset="0"/>
                          <a:ea typeface="Arial" pitchFamily="34" charset="-122"/>
                          <a:cs typeface="Arial" pitchFamily="34" charset="-120"/>
                        </a:rPr>
                        <a:t>410 cas de décalage (écrits par nous)</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228 écarts sur 228 signalés. 0 fausse alerte rouge sur 166 honnêtes.</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Test de couverture, pas une mesure.</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685800">
                <a:tc>
                  <a:txBody>
                    <a:bodyPr/>
                    <a:lstStyle/>
                    <a:p>
                      <a:pPr indent="0" marL="0">
                        <a:buNone/>
                      </a:pPr>
                      <a:r>
                        <a:rPr lang="en-US" sz="1100" b="1" dirty="0">
                          <a:solidFill>
                            <a:srgbClr val="000000"/>
                          </a:solidFill>
                          <a:latin typeface="Arial" pitchFamily="34" charset="0"/>
                          <a:ea typeface="Arial" pitchFamily="34" charset="-122"/>
                          <a:cs typeface="Arial" pitchFamily="34" charset="-120"/>
                        </a:rPr>
                        <a:t>Contrôle scellé, 1 079 paires (mêmes auteurs phrases et règles)</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Code seul : 86,6 % attrapés, 7,7 % de fausses alertes. Avec un modèle qui classe : 86,6 % et 1,3 %.</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Plus prudent, pas plus sûr.</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48640">
                <a:tc>
                  <a:txBody>
                    <a:bodyPr/>
                    <a:lstStyle/>
                    <a:p>
                      <a:pPr indent="0" marL="0">
                        <a:buNone/>
                      </a:pPr>
                      <a:r>
                        <a:rPr lang="en-US" sz="1100" b="1" dirty="0">
                          <a:solidFill>
                            <a:srgbClr val="000000"/>
                          </a:solidFill>
                          <a:latin typeface="Arial" pitchFamily="34" charset="0"/>
                          <a:ea typeface="Arial" pitchFamily="34" charset="-122"/>
                          <a:cs typeface="Arial" pitchFamily="34" charset="-120"/>
                        </a:rPr>
                        <a:t>Conditions produit (banc synthétique)</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Rappel rouge 71,3 %. Honnêtes en rouge 13,9 %, avertis 54,2 %.</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D92D20"/>
                          </a:solidFill>
                          <a:latin typeface="Arial" pitchFamily="34" charset="0"/>
                          <a:ea typeface="Arial" pitchFamily="34" charset="-122"/>
                          <a:cs typeface="Arial" pitchFamily="34" charset="-120"/>
                        </a:rPr>
                        <a:t>Trop de fausses alertes.</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502920">
                <a:tc>
                  <a:txBody>
                    <a:bodyPr/>
                    <a:lstStyle/>
                    <a:p>
                      <a:pPr indent="0" marL="0">
                        <a:buNone/>
                      </a:pPr>
                      <a:r>
                        <a:rPr lang="en-US" sz="1100" b="1" dirty="0">
                          <a:solidFill>
                            <a:srgbClr val="000000"/>
                          </a:solidFill>
                          <a:latin typeface="Arial" pitchFamily="34" charset="0"/>
                          <a:ea typeface="Arial" pitchFamily="34" charset="-122"/>
                          <a:cs typeface="Arial" pitchFamily="34" charset="-120"/>
                        </a:rPr>
                        <a:t>Avalanche réel, 6 325 transactions</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0,30 % de rouges, 76,84 % d’avertissements.</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D92D20"/>
                          </a:solidFill>
                          <a:latin typeface="Arial" pitchFamily="34" charset="0"/>
                          <a:ea typeface="Arial" pitchFamily="34" charset="-122"/>
                          <a:cs typeface="Arial" pitchFamily="34" charset="-120"/>
                        </a:rPr>
                        <a:t>Légitime présumé. Opacité.</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100" b="1" dirty="0">
                          <a:solidFill>
                            <a:srgbClr val="000000"/>
                          </a:solidFill>
                          <a:latin typeface="Arial" pitchFamily="34" charset="0"/>
                          <a:ea typeface="Arial" pitchFamily="34" charset="-122"/>
                          <a:cs typeface="Arial" pitchFamily="34" charset="-120"/>
                        </a:rPr>
                        <a:t>Jeu aveugle, 250 cas (autre auteur)</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b="1" dirty="0">
                          <a:solidFill>
                            <a:srgbClr val="D92D20"/>
                          </a:solidFill>
                          <a:latin typeface="Arial" pitchFamily="34" charset="0"/>
                          <a:ea typeface="Arial" pitchFamily="34" charset="-122"/>
                          <a:cs typeface="Arial" pitchFamily="34" charset="-120"/>
                        </a:rPr>
                        <a:t>À mesurer</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Hash publié avant le test.</a:t>
                      </a:r>
                      <a:endParaRPr lang="en-US" sz="1100" dirty="0">
                        <a:latin typeface="Arial" charset="0"/>
                        <a:ea typeface="Arial" charset="0"/>
                        <a:cs typeface="Arial" charset="0"/>
                      </a:endParaRPr>
                    </a:p>
                  </a:txBody>
                  <a:tcPr marL="91440" marR="91440" marT="45720" marB="45720" anchor="ctr">
                    <a:lnL w="9525" cap="flat" cmpd="sng" algn="ctr">
                      <a:solidFill>
                        <a:srgbClr val="E2E2E2"/>
                      </a:solidFill>
                      <a:prstDash val="solid"/>
                      <a:round/>
                      <a:headEnd type="none" w="med" len="med"/>
                      <a:tailEnd type="none" w="med" len="med"/>
                    </a:lnL>
                    <a:lnR w="9525" cap="flat" cmpd="sng" algn="ctr">
                      <a:solidFill>
                        <a:srgbClr val="E2E2E2"/>
                      </a:solidFill>
                      <a:prstDash val="solid"/>
                      <a:round/>
                      <a:headEnd type="none" w="med" len="med"/>
                      <a:tailEnd type="none" w="med" len="med"/>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5" name="Text 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Contexte réel (47,6 % et 34,2 % d’illimité, 83,85 M$) : colonne « données réelles » de livrables/CHIFFRES.md. Aucun ne mesure Hold up.</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Après l'alerte, la personne décide</a:t>
            </a:r>
            <a:endParaRPr lang="en-US" sz="3000" dirty="0"/>
          </a:p>
        </p:txBody>
      </p:sp>
      <p:sp>
        <p:nvSpPr>
          <p:cNvPr id="4" name="Shape 1"/>
          <p:cNvSpPr/>
          <p:nvPr/>
        </p:nvSpPr>
        <p:spPr>
          <a:xfrm>
            <a:off x="457200" y="1371600"/>
            <a:ext cx="4023360" cy="2743200"/>
          </a:xfrm>
          <a:prstGeom prst="rect">
            <a:avLst/>
          </a:prstGeom>
          <a:solidFill>
            <a:srgbClr val="F5F5F5"/>
          </a:solidFill>
          <a:ln w="9525">
            <a:solidFill>
              <a:srgbClr val="E2E2E2"/>
            </a:solidFill>
            <a:prstDash val="solid"/>
          </a:ln>
        </p:spPr>
      </p:sp>
      <p:sp>
        <p:nvSpPr>
          <p:cNvPr id="5" name="Text 2"/>
          <p:cNvSpPr txBox="1"/>
          <p:nvPr/>
        </p:nvSpPr>
        <p:spPr>
          <a:xfrm>
            <a:off x="640080" y="1463040"/>
            <a:ext cx="36576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Transaction</a:t>
            </a:r>
            <a:endParaRPr lang="en-US" sz="2000" dirty="0"/>
          </a:p>
        </p:txBody>
      </p:sp>
      <p:sp>
        <p:nvSpPr>
          <p:cNvPr id="6" name="Text 3"/>
          <p:cNvSpPr txBox="1"/>
          <p:nvPr/>
        </p:nvSpPr>
        <p:spPr>
          <a:xfrm>
            <a:off x="640080" y="1965960"/>
            <a:ext cx="3657600" cy="201168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La ligne dit : tu as écrit 50 USDC, la demande donne accès à tout ton USDC. Elle explique comment ramener le plafond à 50 USDC.</a:t>
            </a:r>
            <a:endParaRPr lang="en-US" sz="1500" dirty="0"/>
          </a:p>
        </p:txBody>
      </p:sp>
      <p:sp>
        <p:nvSpPr>
          <p:cNvPr id="7" name="Shape 4"/>
          <p:cNvSpPr/>
          <p:nvPr/>
        </p:nvSpPr>
        <p:spPr>
          <a:xfrm>
            <a:off x="4663440" y="1371600"/>
            <a:ext cx="4023360" cy="2743200"/>
          </a:xfrm>
          <a:prstGeom prst="rect">
            <a:avLst/>
          </a:prstGeom>
          <a:solidFill>
            <a:srgbClr val="F5F5F5"/>
          </a:solidFill>
          <a:ln w="9525">
            <a:solidFill>
              <a:srgbClr val="E2E2E2"/>
            </a:solidFill>
            <a:prstDash val="solid"/>
          </a:ln>
        </p:spPr>
      </p:sp>
      <p:sp>
        <p:nvSpPr>
          <p:cNvPr id="8" name="Text 5"/>
          <p:cNvSpPr txBox="1"/>
          <p:nvPr/>
        </p:nvSpPr>
        <p:spPr>
          <a:xfrm>
            <a:off x="4846320" y="1463040"/>
            <a:ext cx="36576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Signature</a:t>
            </a:r>
            <a:endParaRPr lang="en-US" sz="2000" dirty="0"/>
          </a:p>
        </p:txBody>
      </p:sp>
      <p:sp>
        <p:nvSpPr>
          <p:cNvPr id="9" name="Text 6"/>
          <p:cNvSpPr txBox="1"/>
          <p:nvPr/>
        </p:nvSpPr>
        <p:spPr>
          <a:xfrm>
            <a:off x="4846320" y="1965960"/>
            <a:ext cx="3657600" cy="201168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Elle ne peut pas être limitée : la ligne le dit et ne donne aucun conseil que personne ne peut suivre.</a:t>
            </a:r>
            <a:endParaRPr lang="en-US" sz="1500" dirty="0"/>
          </a:p>
        </p:txBody>
      </p:sp>
      <p:sp>
        <p:nvSpPr>
          <p:cNvPr id="10" name="Text 7"/>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200" b="1" dirty="0">
                <a:solidFill>
                  <a:srgbClr val="595959"/>
                </a:solidFill>
                <a:latin typeface="Arial" pitchFamily="34" charset="0"/>
                <a:ea typeface="Arial" pitchFamily="34" charset="-122"/>
                <a:cs typeface="Arial" pitchFamily="34" charset="-120"/>
              </a:rPr>
              <a:t>Chaque décision laisse une ligne datée (chaînée par hachage dans la version serveur).</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Une décision, une trace, un rejeu</a:t>
            </a:r>
            <a:endParaRPr lang="en-US" sz="3000" dirty="0"/>
          </a:p>
        </p:txBody>
      </p:sp>
      <p:sp>
        <p:nvSpPr>
          <p:cNvPr id="4" name="Shape 1"/>
          <p:cNvSpPr/>
          <p:nvPr/>
        </p:nvSpPr>
        <p:spPr>
          <a:xfrm>
            <a:off x="457200" y="1371600"/>
            <a:ext cx="1993392" cy="2926080"/>
          </a:xfrm>
          <a:prstGeom prst="rect">
            <a:avLst/>
          </a:prstGeom>
          <a:solidFill>
            <a:srgbClr val="F5F5F5"/>
          </a:solidFill>
          <a:ln w="9525">
            <a:solidFill>
              <a:srgbClr val="E2E2E2"/>
            </a:solidFill>
            <a:prstDash val="solid"/>
          </a:ln>
        </p:spPr>
      </p:sp>
      <p:sp>
        <p:nvSpPr>
          <p:cNvPr id="5" name="Text 2"/>
          <p:cNvSpPr txBox="1"/>
          <p:nvPr/>
        </p:nvSpPr>
        <p:spPr>
          <a:xfrm>
            <a:off x="566928"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DORA</a:t>
            </a:r>
            <a:endParaRPr lang="en-US" sz="1400" dirty="0"/>
          </a:p>
        </p:txBody>
      </p:sp>
      <p:sp>
        <p:nvSpPr>
          <p:cNvPr id="6" name="Text 3"/>
          <p:cNvSpPr txBox="1"/>
          <p:nvPr/>
        </p:nvSpPr>
        <p:spPr>
          <a:xfrm>
            <a:off x="566928"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Une ligne datée par décision, rejouable dans la version serveur : matière pour le registre. Pas de classification ni de déclaration.</a:t>
            </a:r>
            <a:endParaRPr lang="en-US" sz="1100" dirty="0"/>
          </a:p>
        </p:txBody>
      </p:sp>
      <p:sp>
        <p:nvSpPr>
          <p:cNvPr id="7" name="Shape 4"/>
          <p:cNvSpPr/>
          <p:nvPr/>
        </p:nvSpPr>
        <p:spPr>
          <a:xfrm>
            <a:off x="2542032" y="1371600"/>
            <a:ext cx="1993392" cy="2926080"/>
          </a:xfrm>
          <a:prstGeom prst="rect">
            <a:avLst/>
          </a:prstGeom>
          <a:solidFill>
            <a:srgbClr val="F5F5F5"/>
          </a:solidFill>
          <a:ln w="9525">
            <a:solidFill>
              <a:srgbClr val="E2E2E2"/>
            </a:solidFill>
            <a:prstDash val="solid"/>
          </a:ln>
        </p:spPr>
      </p:sp>
      <p:sp>
        <p:nvSpPr>
          <p:cNvPr id="8" name="Text 5"/>
          <p:cNvSpPr txBox="1"/>
          <p:nvPr/>
        </p:nvSpPr>
        <p:spPr>
          <a:xfrm>
            <a:off x="2651760"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MiCA, LCB-FT</a:t>
            </a:r>
            <a:endParaRPr lang="en-US" sz="1400" dirty="0"/>
          </a:p>
        </p:txBody>
      </p:sp>
      <p:sp>
        <p:nvSpPr>
          <p:cNvPr id="9" name="Text 6"/>
          <p:cNvSpPr txBox="1"/>
          <p:nvPr/>
        </p:nvSpPr>
        <p:spPr>
          <a:xfrm>
            <a:off x="2651760"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Trace de ce qui a été écrit et répondu. Aucun filtrage de sanctions, aucune déclaration de soupçon.</a:t>
            </a:r>
            <a:endParaRPr lang="en-US" sz="1100" dirty="0"/>
          </a:p>
        </p:txBody>
      </p:sp>
      <p:sp>
        <p:nvSpPr>
          <p:cNvPr id="10" name="Shape 7"/>
          <p:cNvSpPr/>
          <p:nvPr/>
        </p:nvSpPr>
        <p:spPr>
          <a:xfrm>
            <a:off x="4626864" y="1371600"/>
            <a:ext cx="1993392" cy="2926080"/>
          </a:xfrm>
          <a:prstGeom prst="rect">
            <a:avLst/>
          </a:prstGeom>
          <a:solidFill>
            <a:srgbClr val="F5F5F5"/>
          </a:solidFill>
          <a:ln w="9525">
            <a:solidFill>
              <a:srgbClr val="E2E2E2"/>
            </a:solidFill>
            <a:prstDash val="solid"/>
          </a:ln>
        </p:spPr>
      </p:sp>
      <p:sp>
        <p:nvSpPr>
          <p:cNvPr id="11" name="Text 8"/>
          <p:cNvSpPr txBox="1"/>
          <p:nvPr/>
        </p:nvSpPr>
        <p:spPr>
          <a:xfrm>
            <a:off x="4736592"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AI Act</a:t>
            </a:r>
            <a:endParaRPr lang="en-US" sz="1400" dirty="0"/>
          </a:p>
        </p:txBody>
      </p:sp>
      <p:sp>
        <p:nvSpPr>
          <p:cNvPr id="12" name="Text 9"/>
          <p:cNvSpPr txBox="1"/>
          <p:nvPr/>
        </p:nvSpPr>
        <p:spPr>
          <a:xfrm>
            <a:off x="4736592"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Version autonome : aucun modèle, aucun réseau. Avec le relais Clef, un modèle hébergé lit la phrase ; du code lit montants, jetons, adresses. Pas de qualification établie.</a:t>
            </a:r>
            <a:endParaRPr lang="en-US" sz="1100" dirty="0"/>
          </a:p>
        </p:txBody>
      </p:sp>
      <p:sp>
        <p:nvSpPr>
          <p:cNvPr id="13" name="Shape 10"/>
          <p:cNvSpPr/>
          <p:nvPr/>
        </p:nvSpPr>
        <p:spPr>
          <a:xfrm>
            <a:off x="6711696" y="1371600"/>
            <a:ext cx="1993392" cy="2926080"/>
          </a:xfrm>
          <a:prstGeom prst="rect">
            <a:avLst/>
          </a:prstGeom>
          <a:solidFill>
            <a:srgbClr val="F5F5F5"/>
          </a:solidFill>
          <a:ln w="9525">
            <a:solidFill>
              <a:srgbClr val="E2E2E2"/>
            </a:solidFill>
            <a:prstDash val="solid"/>
          </a:ln>
        </p:spPr>
      </p:sp>
      <p:sp>
        <p:nvSpPr>
          <p:cNvPr id="14" name="Text 11"/>
          <p:cNvSpPr txBox="1"/>
          <p:nvPr/>
        </p:nvSpPr>
        <p:spPr>
          <a:xfrm>
            <a:off x="6821424" y="1481328"/>
            <a:ext cx="1783080" cy="36576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Auditeur</a:t>
            </a:r>
            <a:endParaRPr lang="en-US" sz="1400" dirty="0"/>
          </a:p>
        </p:txBody>
      </p:sp>
      <p:sp>
        <p:nvSpPr>
          <p:cNvPr id="15" name="Text 12"/>
          <p:cNvSpPr txBox="1"/>
          <p:nvPr/>
        </p:nvSpPr>
        <p:spPr>
          <a:xfrm>
            <a:off x="6821424" y="1920240"/>
            <a:ext cx="1783080" cy="2286000"/>
          </a:xfrm>
          <a:prstGeom prst="rect">
            <a:avLst/>
          </a:prstGeom>
          <a:noFill/>
          <a:ln/>
        </p:spPr>
        <p:txBody>
          <a:bodyPr wrap="square" lIns="0" tIns="0" rIns="0" bIns="0" rtlCol="0" anchor="t"/>
          <a:lstStyle/>
          <a:p>
            <a:pPr indent="0" marL="0">
              <a:buNone/>
            </a:pPr>
            <a:r>
              <a:rPr lang="en-US" sz="1100" dirty="0">
                <a:solidFill>
                  <a:srgbClr val="000000"/>
                </a:solidFill>
                <a:latin typeface="Arial" pitchFamily="34" charset="0"/>
                <a:ea typeface="Arial" pitchFamily="34" charset="-122"/>
                <a:cs typeface="Arial" pitchFamily="34" charset="-120"/>
              </a:rPr>
              <a:t>Version serveur : une commande recalcule la chaîne et rejoue le moteur. Réécriture complète : détectée seulement après ancrage.</a:t>
            </a:r>
            <a:endParaRPr lang="en-US" sz="1100" dirty="0"/>
          </a:p>
        </p:txBody>
      </p:sp>
      <p:sp>
        <p:nvSpPr>
          <p:cNvPr id="16" name="Text 13"/>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b="1" dirty="0">
                <a:solidFill>
                  <a:srgbClr val="595959"/>
                </a:solidFill>
                <a:latin typeface="Arial" pitchFamily="34" charset="0"/>
                <a:ea typeface="Arial" pitchFamily="34" charset="-122"/>
                <a:cs typeface="Arial" pitchFamily="34" charset="-120"/>
              </a:rPr>
              <a:t>NIST CSF 2.0 : DE.AE-02, DE.AE-07, DE.CM-09, RS.MI-01.   ATT&amp;CK : T1657, T1566, T1204.</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Ce qu'on ne couvre pas</a:t>
            </a:r>
            <a:endParaRPr lang="en-US" sz="3000" dirty="0"/>
          </a:p>
        </p:txBody>
      </p:sp>
      <p:sp>
        <p:nvSpPr>
          <p:cNvPr id="4" name="Shape 1"/>
          <p:cNvSpPr/>
          <p:nvPr/>
        </p:nvSpPr>
        <p:spPr>
          <a:xfrm>
            <a:off x="457200" y="1371600"/>
            <a:ext cx="4023360" cy="1371600"/>
          </a:xfrm>
          <a:prstGeom prst="rect">
            <a:avLst/>
          </a:prstGeom>
          <a:solidFill>
            <a:srgbClr val="F5F5F5"/>
          </a:solidFill>
          <a:ln w="9525">
            <a:solidFill>
              <a:srgbClr val="E2E2E2"/>
            </a:solidFill>
            <a:prstDash val="solid"/>
          </a:ln>
        </p:spPr>
      </p:sp>
      <p:sp>
        <p:nvSpPr>
          <p:cNvPr id="5" name="Text 2"/>
          <p:cNvSpPr txBox="1"/>
          <p:nvPr/>
        </p:nvSpPr>
        <p:spPr>
          <a:xfrm>
            <a:off x="640080" y="148132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Fraude consentie</a:t>
            </a:r>
            <a:endParaRPr lang="en-US" sz="1600" dirty="0"/>
          </a:p>
        </p:txBody>
      </p:sp>
      <p:sp>
        <p:nvSpPr>
          <p:cNvPr id="6" name="Text 3"/>
          <p:cNvSpPr txBox="1"/>
          <p:nvPr/>
        </p:nvSpPr>
        <p:spPr>
          <a:xfrm>
            <a:off x="640080" y="190195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Tu veux vraiment faire ce paiement. La demande correspond.</a:t>
            </a:r>
            <a:endParaRPr lang="en-US" sz="1300" dirty="0"/>
          </a:p>
        </p:txBody>
      </p:sp>
      <p:sp>
        <p:nvSpPr>
          <p:cNvPr id="7" name="Shape 4"/>
          <p:cNvSpPr/>
          <p:nvPr/>
        </p:nvSpPr>
        <p:spPr>
          <a:xfrm>
            <a:off x="4663440" y="1371600"/>
            <a:ext cx="4023360" cy="1371600"/>
          </a:xfrm>
          <a:prstGeom prst="rect">
            <a:avLst/>
          </a:prstGeom>
          <a:solidFill>
            <a:srgbClr val="F5F5F5"/>
          </a:solidFill>
          <a:ln w="9525">
            <a:solidFill>
              <a:srgbClr val="E2E2E2"/>
            </a:solidFill>
            <a:prstDash val="solid"/>
          </a:ln>
        </p:spPr>
      </p:sp>
      <p:sp>
        <p:nvSpPr>
          <p:cNvPr id="8" name="Text 5"/>
          <p:cNvSpPr txBox="1"/>
          <p:nvPr/>
        </p:nvSpPr>
        <p:spPr>
          <a:xfrm>
            <a:off x="4846320" y="148132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Intention vague</a:t>
            </a:r>
            <a:endParaRPr lang="en-US" sz="1600" dirty="0"/>
          </a:p>
        </p:txBody>
      </p:sp>
      <p:sp>
        <p:nvSpPr>
          <p:cNvPr id="9" name="Text 6"/>
          <p:cNvSpPr txBox="1"/>
          <p:nvPr/>
        </p:nvSpPr>
        <p:spPr>
          <a:xfrm>
            <a:off x="4846320" y="190195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 Payer » sans montant ni destinataire : une relance, puis « je n'ai pas pu vérifier ».</a:t>
            </a:r>
            <a:endParaRPr lang="en-US" sz="1300" dirty="0"/>
          </a:p>
        </p:txBody>
      </p:sp>
      <p:sp>
        <p:nvSpPr>
          <p:cNvPr id="10" name="Shape 7"/>
          <p:cNvSpPr/>
          <p:nvPr/>
        </p:nvSpPr>
        <p:spPr>
          <a:xfrm>
            <a:off x="457200" y="2926080"/>
            <a:ext cx="4023360" cy="1371600"/>
          </a:xfrm>
          <a:prstGeom prst="rect">
            <a:avLst/>
          </a:prstGeom>
          <a:solidFill>
            <a:srgbClr val="F5F5F5"/>
          </a:solidFill>
          <a:ln w="9525">
            <a:solidFill>
              <a:srgbClr val="E2E2E2"/>
            </a:solidFill>
            <a:prstDash val="solid"/>
          </a:ln>
        </p:spPr>
      </p:sp>
      <p:sp>
        <p:nvSpPr>
          <p:cNvPr id="11" name="Text 8"/>
          <p:cNvSpPr txBox="1"/>
          <p:nvPr/>
        </p:nvSpPr>
        <p:spPr>
          <a:xfrm>
            <a:off x="640080" y="303580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Contrat qui change à l’exécution</a:t>
            </a:r>
            <a:endParaRPr lang="en-US" sz="1600" dirty="0"/>
          </a:p>
        </p:txBody>
      </p:sp>
      <p:sp>
        <p:nvSpPr>
          <p:cNvPr id="12" name="Text 9"/>
          <p:cNvSpPr txBox="1"/>
          <p:nvPr/>
        </p:nvSpPr>
        <p:spPr>
          <a:xfrm>
            <a:off x="640080" y="345643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Added Protection de MetaMask le traite mieux. Nous ne le revendiquons pas.</a:t>
            </a:r>
            <a:endParaRPr lang="en-US" sz="1300" dirty="0"/>
          </a:p>
        </p:txBody>
      </p:sp>
      <p:sp>
        <p:nvSpPr>
          <p:cNvPr id="13" name="Shape 10"/>
          <p:cNvSpPr/>
          <p:nvPr/>
        </p:nvSpPr>
        <p:spPr>
          <a:xfrm>
            <a:off x="4663440" y="2926080"/>
            <a:ext cx="4023360" cy="1371600"/>
          </a:xfrm>
          <a:prstGeom prst="rect">
            <a:avLst/>
          </a:prstGeom>
          <a:solidFill>
            <a:srgbClr val="F5F5F5"/>
          </a:solidFill>
          <a:ln w="9525">
            <a:solidFill>
              <a:srgbClr val="E2E2E2"/>
            </a:solidFill>
            <a:prstDash val="solid"/>
          </a:ln>
        </p:spPr>
      </p:sp>
      <p:sp>
        <p:nvSpPr>
          <p:cNvPr id="14" name="Text 11"/>
          <p:cNvSpPr txBox="1"/>
          <p:nvPr/>
        </p:nvSpPr>
        <p:spPr>
          <a:xfrm>
            <a:off x="4846320" y="3035808"/>
            <a:ext cx="365760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Ledger direct</a:t>
            </a:r>
            <a:endParaRPr lang="en-US" sz="1600" dirty="0"/>
          </a:p>
        </p:txBody>
      </p:sp>
      <p:sp>
        <p:nvSpPr>
          <p:cNvPr id="15" name="Text 12"/>
          <p:cNvSpPr txBox="1"/>
          <p:nvPr/>
        </p:nvSpPr>
        <p:spPr>
          <a:xfrm>
            <a:off x="4846320" y="3456432"/>
            <a:ext cx="3657600" cy="777240"/>
          </a:xfrm>
          <a:prstGeom prst="rect">
            <a:avLst/>
          </a:prstGeom>
          <a:noFill/>
          <a:ln/>
        </p:spPr>
        <p:txBody>
          <a:bodyPr wrap="square" lIns="0" tIns="0" rIns="0" bIns="0" rtlCol="0" anchor="t"/>
          <a:lstStyle/>
          <a:p>
            <a:pPr indent="0" marL="0">
              <a:buNone/>
            </a:pPr>
            <a:r>
              <a:rPr lang="en-US" sz="1300" dirty="0">
                <a:solidFill>
                  <a:srgbClr val="000000"/>
                </a:solidFill>
                <a:latin typeface="Arial" pitchFamily="34" charset="0"/>
                <a:ea typeface="Arial" pitchFamily="34" charset="-122"/>
                <a:cs typeface="Arial" pitchFamily="34" charset="-120"/>
              </a:rPr>
              <a:t>Une page qui parle au matériel sans passer par le navigateur échappe à l'extension.</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868680"/>
          </a:xfrm>
          <a:prstGeom prst="rect">
            <a:avLst/>
          </a:prstGeom>
          <a:noFill/>
          <a:ln/>
        </p:spPr>
        <p:txBody>
          <a:bodyPr wrap="square" lIns="0" tIns="0" rIns="0" bIns="0" rtlCol="0" anchor="t"/>
          <a:lstStyle/>
          <a:p>
            <a:pPr indent="0" marL="0">
              <a:buNone/>
            </a:pPr>
            <a:r>
              <a:rPr lang="en-US" sz="3000" b="1" dirty="0">
                <a:solidFill>
                  <a:srgbClr val="000000"/>
                </a:solidFill>
                <a:latin typeface="Arial" pitchFamily="34" charset="0"/>
                <a:ea typeface="Arial" pitchFamily="34" charset="-122"/>
                <a:cs typeface="Arial" pitchFamily="34" charset="-120"/>
              </a:rPr>
              <a:t>Deux ingénieurs, des limites écrites</a:t>
            </a:r>
            <a:endParaRPr lang="en-US" sz="3000" dirty="0"/>
          </a:p>
        </p:txBody>
      </p:sp>
      <p:sp>
        <p:nvSpPr>
          <p:cNvPr id="4" name="Text 1"/>
          <p:cNvSpPr txBox="1"/>
          <p:nvPr/>
        </p:nvSpPr>
        <p:spPr>
          <a:xfrm>
            <a:off x="457200" y="1371600"/>
            <a:ext cx="3200400" cy="365760"/>
          </a:xfrm>
          <a:prstGeom prst="rect">
            <a:avLst/>
          </a:prstGeom>
          <a:noFill/>
          <a:ln/>
        </p:spPr>
        <p:txBody>
          <a:bodyPr wrap="square" lIns="0" tIns="0" rIns="0" bIns="0" rtlCol="0" anchor="t"/>
          <a:lstStyle/>
          <a:p>
            <a:pPr indent="0" marL="0">
              <a:buNone/>
            </a:pPr>
            <a:r>
              <a:rPr lang="en-US" sz="2000" b="1" dirty="0">
                <a:solidFill>
                  <a:srgbClr val="000000"/>
                </a:solidFill>
                <a:latin typeface="Arial" pitchFamily="34" charset="0"/>
                <a:ea typeface="Arial" pitchFamily="34" charset="-122"/>
                <a:cs typeface="Arial" pitchFamily="34" charset="-120"/>
              </a:rPr>
              <a:t>Adem et Titouan</a:t>
            </a:r>
            <a:endParaRPr lang="en-US" sz="2000" dirty="0"/>
          </a:p>
        </p:txBody>
      </p:sp>
      <p:sp>
        <p:nvSpPr>
          <p:cNvPr id="5" name="Text 2"/>
          <p:cNvSpPr txBox="1"/>
          <p:nvPr/>
        </p:nvSpPr>
        <p:spPr>
          <a:xfrm>
            <a:off x="457200" y="1920240"/>
            <a:ext cx="3200400" cy="13716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Gratuit pour les personnes, des partenaires ensuite. Pas de prix fixé, pas de client.</a:t>
            </a:r>
            <a:endParaRPr lang="en-US" sz="1500" dirty="0"/>
          </a:p>
        </p:txBody>
      </p:sp>
      <p:sp>
        <p:nvSpPr>
          <p:cNvPr id="6" name="Text 3"/>
          <p:cNvSpPr txBox="1"/>
          <p:nvPr/>
        </p:nvSpPr>
        <p:spPr>
          <a:xfrm>
            <a:off x="4023360" y="1371600"/>
            <a:ext cx="4572000" cy="365760"/>
          </a:xfrm>
          <a:prstGeom prst="rect">
            <a:avLst/>
          </a:prstGeom>
          <a:noFill/>
          <a:ln/>
        </p:spPr>
        <p:txBody>
          <a:bodyPr wrap="square" lIns="0" tIns="0" rIns="0" bIns="0" rtlCol="0" anchor="t"/>
          <a:lstStyle/>
          <a:p>
            <a:pPr indent="0" marL="0">
              <a:buNone/>
            </a:pPr>
            <a:r>
              <a:rPr lang="en-US" sz="1800" b="1" dirty="0">
                <a:solidFill>
                  <a:srgbClr val="D92D20"/>
                </a:solidFill>
                <a:latin typeface="Arial" pitchFamily="34" charset="0"/>
                <a:ea typeface="Arial" pitchFamily="34" charset="-122"/>
                <a:cs typeface="Arial" pitchFamily="34" charset="-120"/>
              </a:rPr>
              <a:t>Pas encore fait</a:t>
            </a:r>
            <a:endParaRPr lang="en-US" sz="1800" dirty="0"/>
          </a:p>
        </p:txBody>
      </p:sp>
      <p:sp>
        <p:nvSpPr>
          <p:cNvPr id="7" name="Text 4"/>
          <p:cNvSpPr txBox="1"/>
          <p:nvPr/>
        </p:nvSpPr>
        <p:spPr>
          <a:xfrm>
            <a:off x="4023360" y="1874520"/>
            <a:ext cx="4572000" cy="21031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Essai avec un vrai portefeuille</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Jeu aveugle de 250 cas</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Correctifs de la revue de sécurité</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Contrôle écrit par un autre auteur</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Test avec de vraies personnes</a:t>
            </a:r>
            <a:endParaRPr lang="en-US" sz="1500" dirty="0"/>
          </a:p>
          <a:p>
            <a:pPr marL="342900" indent="-342900">
              <a:spcAft>
                <a:spcPts val="500"/>
              </a:spcAft>
              <a:buSzPct val="100000"/>
              <a:buChar char="•"/>
            </a:pPr>
            <a:r>
              <a:rPr lang="en-US" sz="1500" dirty="0">
                <a:solidFill>
                  <a:srgbClr val="000000"/>
                </a:solidFill>
                <a:latin typeface="Arial" pitchFamily="34" charset="0"/>
                <a:ea typeface="Arial" pitchFamily="34" charset="-122"/>
                <a:cs typeface="Arial" pitchFamily="34" charset="-120"/>
              </a:rPr>
              <a:t>Ancrage sur Fuji</a:t>
            </a:r>
            <a:endParaRPr lang="en-US" sz="1500" dirty="0"/>
          </a:p>
        </p:txBody>
      </p:sp>
      <p:sp>
        <p:nvSpPr>
          <p:cNvPr id="8" name="Text 5"/>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Ce qu'on vous demande : écrivez votre phrase, attaquez-nous.</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95959"/>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2026-10-11T06:42:33Z</dcterms:created>
  <dcterms:modified xsi:type="dcterms:W3CDTF">2026-10-11T06:42:33Z</dcterms:modified>
</cp:coreProperties>
</file>