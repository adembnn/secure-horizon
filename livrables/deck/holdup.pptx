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cas (150 arnaques, 100 jumeaux honnêtes), écrits sans lire nos règles, sha256 publié, ouverts une fois le 11 oct. 2026, moteur figé. Signalé = avertissement ou rouge. Code seul : 87,3 % [81,1 ; 91,7], faux rouges 15,0 % [9,3 ; 23,3]. Sans phrase : 64,7 %. Critères publiés avant : rappel au moins 80 % atteint, faux rouges au plus 10 % non atteint. 11 des 15 faux rouges : achat NFT à prix quasi nul. Ces chiffres mesurent le moteur de comparaison côté serveur (blind_decalage/run/chaine/), en Node, pas l'extension livrée : ne jamais dire « l'extension attrape 87 % ». Ne pas citer A11 ni A12 de CHIFFRES.md comme mesure du produit (rejoué sur le build réel : 38,2 % et 9,1 %, preuves/ECARTS_LIVRABLES.md). Limite : auteur de la même famille de modèles que ceux qui nous ont aidés ; cas synthétiques. Ne plus citer le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57200" y="3703320"/>
            <a:ext cx="384048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 pirate se sert de l’accès illimité.</a:t>
            </a:r>
            <a:endParaRPr lang="en-US" sz="1400" dirty="0"/>
          </a:p>
        </p:txBody>
      </p:sp>
      <p:sp>
        <p:nvSpPr>
          <p:cNvPr id="14" name="Text 11"/>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5" name="Text 12"/>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16" name="Text 13"/>
          <p:cNvSpPr txBox="1"/>
          <p:nvPr/>
        </p:nvSpPr>
        <p:spPr>
          <a:xfrm>
            <a:off x="4846320" y="3703320"/>
            <a:ext cx="3840480" cy="5486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avais limité l’accès aux 50 de l’échange. Il n’y a plus rien à prendre.</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Jeu aveugle : 250 cas,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research/titouan/T_banc_e2e/blind_decalage/run/RESULTAT.md, preuves/ECARTS_LIVRABLES.md</a:t>
            </a:r>
            <a:endParaRPr lang="en-US" sz="1100" dirty="0"/>
          </a:p>
        </p:txBody>
      </p:sp>
      <p:sp>
        <p:nvSpPr>
          <p:cNvPr id="5" name="Text 2"/>
          <p:cNvSpPr txBox="1"/>
          <p:nvPr/>
        </p:nvSpPr>
        <p:spPr>
          <a:xfrm>
            <a:off x="457200" y="11887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Arnaques signalées</a:t>
            </a:r>
            <a:endParaRPr lang="en-US" sz="1400" dirty="0"/>
          </a:p>
        </p:txBody>
      </p:sp>
      <p:sp>
        <p:nvSpPr>
          <p:cNvPr id="6" name="Text 3"/>
          <p:cNvSpPr txBox="1"/>
          <p:nvPr/>
        </p:nvSpPr>
        <p:spPr>
          <a:xfrm>
            <a:off x="457200" y="15544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600" dirty="0"/>
          </a:p>
        </p:txBody>
      </p:sp>
      <p:sp>
        <p:nvSpPr>
          <p:cNvPr id="7" name="Shape 4"/>
          <p:cNvSpPr/>
          <p:nvPr/>
        </p:nvSpPr>
        <p:spPr>
          <a:xfrm>
            <a:off x="2926080" y="1609344"/>
            <a:ext cx="2958084" cy="347472"/>
          </a:xfrm>
          <a:prstGeom prst="rect">
            <a:avLst/>
          </a:prstGeom>
          <a:solidFill>
            <a:srgbClr val="808080"/>
          </a:solidFill>
          <a:ln w="12700">
            <a:solidFill>
              <a:srgbClr val="808080"/>
            </a:solidFill>
            <a:prstDash val="solid"/>
          </a:ln>
        </p:spPr>
      </p:sp>
      <p:sp>
        <p:nvSpPr>
          <p:cNvPr id="8" name="Text 5"/>
          <p:cNvSpPr txBox="1"/>
          <p:nvPr/>
        </p:nvSpPr>
        <p:spPr>
          <a:xfrm>
            <a:off x="6021324" y="15544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9" name="Text 6"/>
          <p:cNvSpPr txBox="1"/>
          <p:nvPr/>
        </p:nvSpPr>
        <p:spPr>
          <a:xfrm>
            <a:off x="457200" y="20574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la phrase</a:t>
            </a:r>
            <a:endParaRPr lang="en-US" sz="1600" dirty="0"/>
          </a:p>
        </p:txBody>
      </p:sp>
      <p:sp>
        <p:nvSpPr>
          <p:cNvPr id="10" name="Shape 7"/>
          <p:cNvSpPr/>
          <p:nvPr/>
        </p:nvSpPr>
        <p:spPr>
          <a:xfrm>
            <a:off x="2926080" y="2112264"/>
            <a:ext cx="3991356" cy="347472"/>
          </a:xfrm>
          <a:prstGeom prst="rect">
            <a:avLst/>
          </a:prstGeom>
          <a:solidFill>
            <a:srgbClr val="FFFFFF"/>
          </a:solidFill>
          <a:ln w="12700">
            <a:solidFill>
              <a:srgbClr val="FFFFFF"/>
            </a:solidFill>
            <a:prstDash val="solid"/>
          </a:ln>
        </p:spPr>
      </p:sp>
      <p:sp>
        <p:nvSpPr>
          <p:cNvPr id="11" name="Text 8"/>
          <p:cNvSpPr txBox="1"/>
          <p:nvPr/>
        </p:nvSpPr>
        <p:spPr>
          <a:xfrm>
            <a:off x="7054596" y="20574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2" name="Text 9"/>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Opérations honnêtes arrêtées à tort</a:t>
            </a:r>
            <a:endParaRPr lang="en-US" sz="1400" dirty="0"/>
          </a:p>
        </p:txBody>
      </p:sp>
      <p:sp>
        <p:nvSpPr>
          <p:cNvPr id="13" name="Text 10"/>
          <p:cNvSpPr txBox="1"/>
          <p:nvPr/>
        </p:nvSpPr>
        <p:spPr>
          <a:xfrm>
            <a:off x="457200" y="31546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Seuil fixé avant</a:t>
            </a:r>
            <a:endParaRPr lang="en-US" sz="1600" dirty="0"/>
          </a:p>
        </p:txBody>
      </p:sp>
      <p:sp>
        <p:nvSpPr>
          <p:cNvPr id="14" name="Shape 11"/>
          <p:cNvSpPr/>
          <p:nvPr/>
        </p:nvSpPr>
        <p:spPr>
          <a:xfrm>
            <a:off x="2926080" y="3209544"/>
            <a:ext cx="457200" cy="347472"/>
          </a:xfrm>
          <a:prstGeom prst="rect">
            <a:avLst/>
          </a:prstGeom>
          <a:solidFill>
            <a:srgbClr val="808080"/>
          </a:solidFill>
          <a:ln w="12700">
            <a:solidFill>
              <a:srgbClr val="808080"/>
            </a:solidFill>
            <a:prstDash val="solid"/>
          </a:ln>
        </p:spPr>
      </p:sp>
      <p:sp>
        <p:nvSpPr>
          <p:cNvPr id="15" name="Text 12"/>
          <p:cNvSpPr txBox="1"/>
          <p:nvPr/>
        </p:nvSpPr>
        <p:spPr>
          <a:xfrm>
            <a:off x="3520440" y="31546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10 %</a:t>
            </a:r>
            <a:endParaRPr lang="en-US" sz="2600" dirty="0"/>
          </a:p>
        </p:txBody>
      </p:sp>
      <p:sp>
        <p:nvSpPr>
          <p:cNvPr id="16" name="Text 13"/>
          <p:cNvSpPr txBox="1"/>
          <p:nvPr/>
        </p:nvSpPr>
        <p:spPr>
          <a:xfrm>
            <a:off x="457200" y="36576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Mesuré : seuil manqué</a:t>
            </a:r>
            <a:endParaRPr lang="en-US" sz="1600" dirty="0"/>
          </a:p>
        </p:txBody>
      </p:sp>
      <p:sp>
        <p:nvSpPr>
          <p:cNvPr id="17" name="Shape 14"/>
          <p:cNvSpPr/>
          <p:nvPr/>
        </p:nvSpPr>
        <p:spPr>
          <a:xfrm>
            <a:off x="2926080" y="3712464"/>
            <a:ext cx="685800" cy="347472"/>
          </a:xfrm>
          <a:prstGeom prst="rect">
            <a:avLst/>
          </a:prstGeom>
          <a:solidFill>
            <a:srgbClr val="FFFFFF"/>
          </a:solidFill>
          <a:ln w="12700">
            <a:solidFill>
              <a:srgbClr val="FFFFFF"/>
            </a:solidFill>
            <a:prstDash val="solid"/>
          </a:ln>
        </p:spPr>
      </p:sp>
      <p:sp>
        <p:nvSpPr>
          <p:cNvPr id="18" name="Text 15"/>
          <p:cNvSpPr txBox="1"/>
          <p:nvPr/>
        </p:nvSpPr>
        <p:spPr>
          <a:xfrm>
            <a:off x="3749040" y="36576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109728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Les 4 fois, elle avait lu « Ça ne correspond pas » et appuyé sur « Continuer » quand même. Jamais piégée sans ce geste. La testeuse est un agent qui joue une personne prudente, au clavier.</a:t>
            </a:r>
            <a:endParaRPr lang="en-US" sz="14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2026-10-11T09:31:13Z</dcterms:created>
  <dcterms:modified xsi:type="dcterms:W3CDTF">2026-10-11T09:31:13Z</dcterms:modified>
</cp:coreProperties>
</file>