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site lui demande un droit sur tout son USDC. En 2025, 106 106 adresses ont perdu 83,85 millions de dollars en signant sur un site de phishing. Chiffre d'un éditeur (ScamSniffer), chaînes EVM, borne basse. Aucun chiffre propre à Avalanche. Source : livrables/CHIFFRES.md 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L'utilisateur écrit ce qu'il veut faire avant de voir la demande. Montant, jeton et adresse sont lus par du code. Le modèle Clef lit la phrase. Correspond : le portefeuille s'ouvre seul après une seconde. Ne correspond pas : alerte, Annuler visible. Pas pu vérifier : on le dit. Les signaux que le portefeuille donne déjà sont gardés. MetaMask affiche illimité sans alerte et ne sait ni combien tu voulais donner ni à qui, d'après son code public lu le 11 oct. 2026, pour une adresse non listée comme malveillante.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Bybit, février 2025 : l'interface affichait une transaction légitime, une autre charge allait aux signataires (analyses NCC Group, BlockSec, Check Point, Cyfrin). Notre scène est synthétique, adresses factices, rejeu du moteur sans portefeuille (demo_typologie/safe_signataire.mjs). Elle montre le décodage, pas l'attaque de bout en bout. Une extension ne voit que ce qui passe par window.ethereum : si la page parle au matériel en direct, elle ne voit rien. Les analyses publiques ne confirment pas ce qu'affichait l'écran du matériel : ne pas l'affirmer.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Scénario S6 (X_scenarios_hors_metamask.md). MetaMask décode un Permit en demande de plafond de dépense (lu dans son code public) : il informe, mais il ne compare pas avec « me connecter ». Les messages de connexion valides ne passent pas par l'analyse Blockaid. Démo : site Glacier Rewards, en local. Le silence de MetaMask sur une chaîne locale ne prouve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vient de cas écrits par nous, jeux de réglage. Le 228 sur 228 est un test de couverture. Le jeu aveugle (250 cas, hash publié) n'est pas passé. La grille de 1 500 paires est en cours. Clef n'est pas mesuré par nous (pas de clé). Latence locale : médiane 18,39 ms, p95 34,08 ms. Source : livrables/CHIFFRES.md A3, A4, A5, A6,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Annuler est toujours visible. Transaction : la ligne dit comment ramener le droit au montant écrit (correction automatique : décision Q17, en cours, non vérifiée). Signature : le droit ne peut pas être limité, on le dit. Durée de retenue : non tranchée (Q16), ne pas citer de durée. Journal chaîné par hachage, fiche d'incident sur demande, retrait de droits testé sur chaîne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Contenu complet : livrables/SLIDE_CONFORMITE.md. Un particulier n'est pas une entité régulée ; la plateforme qui intègre Hold up l'est. Nous ne nous déclarons conformes à aucun texte. Si le modèle se trompe : voir QR_JURY question 2. L'ancrage sur Fuji n'est pas déployé : on ne l'affirme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Fraude consentie : la demande correspond à ce que la personne veut faire, rien à comparer (la fraude à l'investissement pèse 7,2 Md$ de plaintes en 2025 selon l'IC3, hors périmètre). Intention vague : une relance, puis « je n'ai pas pu vérifier ». Contrat qui change à l'exécution : Added Protection de MetaMask le traite mieux. Ledger direct : une extension ne voit que window.ethereum.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Gratuit pour les personnes, des partenaires ensuite, sans prix fixé ni client. Harpie et Wallet Guard ont fermé en mars 2025 : le modèle reste une question ouverte. Pas de biographie. Ce qu'on demande : un test avec un vrai portefeuille et un jeu de cas écrit par quelqu'un d'autre.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2743200" cy="22860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Hold up</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Camille veut échanger 50 USDC</a:t>
            </a:r>
            <a:endParaRPr lang="en-US" sz="3000" dirty="0"/>
          </a:p>
        </p:txBody>
      </p:sp>
      <p:sp>
        <p:nvSpPr>
          <p:cNvPr id="4" name="Shape 1"/>
          <p:cNvSpPr/>
          <p:nvPr/>
        </p:nvSpPr>
        <p:spPr>
          <a:xfrm>
            <a:off x="457200" y="1371600"/>
            <a:ext cx="3931920" cy="3108960"/>
          </a:xfrm>
          <a:prstGeom prst="rect">
            <a:avLst/>
          </a:prstGeom>
          <a:solidFill>
            <a:srgbClr val="F5F5F5"/>
          </a:solidFill>
          <a:ln w="9525">
            <a:solidFill>
              <a:srgbClr val="E2E2E2"/>
            </a:solidFill>
            <a:prstDash val="solid"/>
          </a:ln>
        </p:spPr>
      </p:sp>
      <p:sp>
        <p:nvSpPr>
          <p:cNvPr id="5" name="Text 2"/>
          <p:cNvSpPr txBox="1"/>
          <p:nvPr/>
        </p:nvSpPr>
        <p:spPr>
          <a:xfrm>
            <a:off x="685800" y="1554480"/>
            <a:ext cx="3474720" cy="2743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Neve (site fictif)</a:t>
            </a:r>
            <a:endParaRPr lang="en-US" sz="1200" dirty="0"/>
          </a:p>
        </p:txBody>
      </p:sp>
      <p:sp>
        <p:nvSpPr>
          <p:cNvPr id="6" name="Text 3"/>
          <p:cNvSpPr txBox="1"/>
          <p:nvPr/>
        </p:nvSpPr>
        <p:spPr>
          <a:xfrm>
            <a:off x="685800" y="1920240"/>
            <a:ext cx="3474720" cy="64008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Échanger 50 USDC contre AVAX</a:t>
            </a:r>
            <a:endParaRPr lang="en-US" sz="2000" dirty="0"/>
          </a:p>
        </p:txBody>
      </p:sp>
      <p:sp>
        <p:nvSpPr>
          <p:cNvPr id="7" name="Text 4"/>
          <p:cNvSpPr txBox="1"/>
          <p:nvPr/>
        </p:nvSpPr>
        <p:spPr>
          <a:xfrm>
            <a:off x="685800" y="2697480"/>
            <a:ext cx="3474720" cy="640080"/>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Étape 1 : autoriser le routeur à dépenser votre USDC.</a:t>
            </a:r>
            <a:endParaRPr lang="en-US" sz="1400" dirty="0"/>
          </a:p>
        </p:txBody>
      </p:sp>
      <p:sp>
        <p:nvSpPr>
          <p:cNvPr id="8" name="Shape 5"/>
          <p:cNvSpPr/>
          <p:nvPr/>
        </p:nvSpPr>
        <p:spPr>
          <a:xfrm>
            <a:off x="685800" y="3520440"/>
            <a:ext cx="2377440" cy="502920"/>
          </a:xfrm>
          <a:prstGeom prst="roundRect">
            <a:avLst>
              <a:gd name="adj" fmla="val 18182"/>
            </a:avLst>
          </a:prstGeom>
          <a:solidFill>
            <a:srgbClr val="000000"/>
          </a:solidFill>
          <a:ln w="12700">
            <a:solidFill>
              <a:srgbClr val="000000"/>
            </a:solidFill>
            <a:prstDash val="solid"/>
          </a:ln>
        </p:spPr>
      </p:sp>
      <p:sp>
        <p:nvSpPr>
          <p:cNvPr id="9" name="Text 6"/>
          <p:cNvSpPr txBox="1"/>
          <p:nvPr/>
        </p:nvSpPr>
        <p:spPr>
          <a:xfrm>
            <a:off x="685800" y="352044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Autoriser</a:t>
            </a:r>
            <a:endParaRPr lang="en-US" sz="1400" dirty="0"/>
          </a:p>
        </p:txBody>
      </p:sp>
      <p:sp>
        <p:nvSpPr>
          <p:cNvPr id="10" name="Text 7"/>
          <p:cNvSpPr txBox="1"/>
          <p:nvPr/>
        </p:nvSpPr>
        <p:spPr>
          <a:xfrm>
            <a:off x="4846320" y="1463040"/>
            <a:ext cx="3840480" cy="914400"/>
          </a:xfrm>
          <a:prstGeom prst="rect">
            <a:avLst/>
          </a:prstGeom>
          <a:noFill/>
          <a:ln/>
        </p:spPr>
        <p:txBody>
          <a:bodyPr wrap="square" lIns="0" tIns="0" rIns="0" bIns="0" rtlCol="0" anchor="t"/>
          <a:lstStyle/>
          <a:p>
            <a:pPr indent="0" marL="0">
              <a:buNone/>
            </a:pPr>
            <a:r>
              <a:rPr lang="en-US" sz="5400" b="1" dirty="0">
                <a:solidFill>
                  <a:srgbClr val="D92D20"/>
                </a:solidFill>
                <a:latin typeface="Arial" pitchFamily="34" charset="0"/>
                <a:ea typeface="Arial" pitchFamily="34" charset="-122"/>
                <a:cs typeface="Arial" pitchFamily="34" charset="-120"/>
              </a:rPr>
              <a:t>83,85 M$</a:t>
            </a:r>
            <a:endParaRPr lang="en-US" sz="5400" dirty="0"/>
          </a:p>
        </p:txBody>
      </p:sp>
      <p:sp>
        <p:nvSpPr>
          <p:cNvPr id="11" name="Text 8"/>
          <p:cNvSpPr txBox="1"/>
          <p:nvPr/>
        </p:nvSpPr>
        <p:spPr>
          <a:xfrm>
            <a:off x="4846320" y="2468880"/>
            <a:ext cx="3840480" cy="822960"/>
          </a:xfrm>
          <a:prstGeom prst="rect">
            <a:avLst/>
          </a:prstGeom>
          <a:noFill/>
          <a:ln/>
        </p:spPr>
        <p:txBody>
          <a:bodyPr wrap="square" lIns="0" tIns="0" rIns="0" bIns="0" rtlCol="0" anchor="t"/>
          <a:lstStyle/>
          <a:p>
            <a:pPr indent="0" marL="0">
              <a:buNone/>
            </a:pPr>
            <a:r>
              <a:rPr lang="en-US" sz="1600" dirty="0">
                <a:solidFill>
                  <a:srgbClr val="000000"/>
                </a:solidFill>
                <a:latin typeface="Arial" pitchFamily="34" charset="0"/>
                <a:ea typeface="Arial" pitchFamily="34" charset="-122"/>
                <a:cs typeface="Arial" pitchFamily="34" charset="-120"/>
              </a:rPr>
              <a:t>perdus par 106 106 adresses en 2025 en signant sur un site de phishing</a:t>
            </a:r>
            <a:endParaRPr lang="en-US" sz="1600" dirty="0"/>
          </a:p>
        </p:txBody>
      </p:sp>
      <p:sp>
        <p:nvSpPr>
          <p:cNvPr id="12" name="Text 9"/>
          <p:cNvSpPr txBox="1"/>
          <p:nvPr/>
        </p:nvSpPr>
        <p:spPr>
          <a:xfrm>
            <a:off x="4846320" y="3474720"/>
            <a:ext cx="384048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Chiffre ScamSniffer (éditeur), chaînes EVM, borne basse.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Tu écris. Hold up compare.</a:t>
            </a:r>
            <a:endParaRPr lang="en-US" sz="3000" dirty="0"/>
          </a:p>
        </p:txBody>
      </p:sp>
      <p:sp>
        <p:nvSpPr>
          <p:cNvPr id="4" name="Shape 1"/>
          <p:cNvSpPr/>
          <p:nvPr/>
        </p:nvSpPr>
        <p:spPr>
          <a:xfrm>
            <a:off x="457200" y="1371600"/>
            <a:ext cx="2560320" cy="1097280"/>
          </a:xfrm>
          <a:prstGeom prst="rect">
            <a:avLst/>
          </a:prstGeom>
          <a:solidFill>
            <a:srgbClr val="F5F5F5"/>
          </a:solidFill>
          <a:ln w="9525">
            <a:solidFill>
              <a:srgbClr val="E2E2E2"/>
            </a:solidFill>
            <a:prstDash val="solid"/>
          </a:ln>
        </p:spPr>
      </p:sp>
      <p:sp>
        <p:nvSpPr>
          <p:cNvPr id="5" name="Text 2"/>
          <p:cNvSpPr txBox="1"/>
          <p:nvPr/>
        </p:nvSpPr>
        <p:spPr>
          <a:xfrm>
            <a:off x="594360" y="1463040"/>
            <a:ext cx="2286000" cy="274320"/>
          </a:xfrm>
          <a:prstGeom prst="rect">
            <a:avLst/>
          </a:prstGeom>
          <a:noFill/>
          <a:ln/>
        </p:spPr>
        <p:txBody>
          <a:bodyPr wrap="square" lIns="0" tIns="0" rIns="0" bIns="0" rtlCol="0" anchor="t"/>
          <a:lstStyle/>
          <a:p>
            <a:pPr indent="0" marL="0">
              <a:buNone/>
            </a:pPr>
            <a:r>
              <a:rPr lang="en-US" sz="1300" b="1" dirty="0">
                <a:solidFill>
                  <a:srgbClr val="000000"/>
                </a:solidFill>
                <a:latin typeface="Arial" pitchFamily="34" charset="0"/>
                <a:ea typeface="Arial" pitchFamily="34" charset="-122"/>
                <a:cs typeface="Arial" pitchFamily="34" charset="-120"/>
              </a:rPr>
              <a:t>1. J'écris</a:t>
            </a:r>
            <a:endParaRPr lang="en-US" sz="1300" dirty="0"/>
          </a:p>
        </p:txBody>
      </p:sp>
      <p:sp>
        <p:nvSpPr>
          <p:cNvPr id="6" name="Text 3"/>
          <p:cNvSpPr txBox="1"/>
          <p:nvPr/>
        </p:nvSpPr>
        <p:spPr>
          <a:xfrm>
            <a:off x="594360" y="1828800"/>
            <a:ext cx="2286000" cy="54864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échanger 50 USDC contre AVAX</a:t>
            </a:r>
            <a:endParaRPr lang="en-US" sz="1400" dirty="0"/>
          </a:p>
        </p:txBody>
      </p:sp>
      <p:sp>
        <p:nvSpPr>
          <p:cNvPr id="7" name="Shape 4"/>
          <p:cNvSpPr/>
          <p:nvPr/>
        </p:nvSpPr>
        <p:spPr>
          <a:xfrm>
            <a:off x="3291840" y="1371600"/>
            <a:ext cx="2560320" cy="1097280"/>
          </a:xfrm>
          <a:prstGeom prst="rect">
            <a:avLst/>
          </a:prstGeom>
          <a:solidFill>
            <a:srgbClr val="F5F5F5"/>
          </a:solidFill>
          <a:ln w="9525">
            <a:solidFill>
              <a:srgbClr val="E2E2E2"/>
            </a:solidFill>
            <a:prstDash val="solid"/>
          </a:ln>
        </p:spPr>
      </p:sp>
      <p:sp>
        <p:nvSpPr>
          <p:cNvPr id="8" name="Text 5"/>
          <p:cNvSpPr txBox="1"/>
          <p:nvPr/>
        </p:nvSpPr>
        <p:spPr>
          <a:xfrm>
            <a:off x="3429000" y="1463040"/>
            <a:ext cx="2286000" cy="274320"/>
          </a:xfrm>
          <a:prstGeom prst="rect">
            <a:avLst/>
          </a:prstGeom>
          <a:noFill/>
          <a:ln/>
        </p:spPr>
        <p:txBody>
          <a:bodyPr wrap="square" lIns="0" tIns="0" rIns="0" bIns="0" rtlCol="0" anchor="t"/>
          <a:lstStyle/>
          <a:p>
            <a:pPr indent="0" marL="0">
              <a:buNone/>
            </a:pPr>
            <a:r>
              <a:rPr lang="en-US" sz="1300" b="1" dirty="0">
                <a:solidFill>
                  <a:srgbClr val="000000"/>
                </a:solidFill>
                <a:latin typeface="Arial" pitchFamily="34" charset="0"/>
                <a:ea typeface="Arial" pitchFamily="34" charset="-122"/>
                <a:cs typeface="Arial" pitchFamily="34" charset="-120"/>
              </a:rPr>
              <a:t>2. La demande arrive</a:t>
            </a:r>
            <a:endParaRPr lang="en-US" sz="1300" dirty="0"/>
          </a:p>
        </p:txBody>
      </p:sp>
      <p:sp>
        <p:nvSpPr>
          <p:cNvPr id="9" name="Text 6"/>
          <p:cNvSpPr txBox="1"/>
          <p:nvPr/>
        </p:nvSpPr>
        <p:spPr>
          <a:xfrm>
            <a:off x="3429000" y="1828800"/>
            <a:ext cx="2286000" cy="54864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droit de dépense illimité sur l'USDC</a:t>
            </a:r>
            <a:endParaRPr lang="en-US" sz="1400" dirty="0"/>
          </a:p>
        </p:txBody>
      </p:sp>
      <p:sp>
        <p:nvSpPr>
          <p:cNvPr id="10" name="Shape 7"/>
          <p:cNvSpPr/>
          <p:nvPr/>
        </p:nvSpPr>
        <p:spPr>
          <a:xfrm>
            <a:off x="6126480" y="1371600"/>
            <a:ext cx="2560320" cy="1097280"/>
          </a:xfrm>
          <a:prstGeom prst="rect">
            <a:avLst/>
          </a:prstGeom>
          <a:solidFill>
            <a:srgbClr val="FFFFFF"/>
          </a:solidFill>
          <a:ln w="9525">
            <a:solidFill>
              <a:srgbClr val="D92D20"/>
            </a:solidFill>
            <a:prstDash val="solid"/>
          </a:ln>
        </p:spPr>
      </p:sp>
      <p:sp>
        <p:nvSpPr>
          <p:cNvPr id="11" name="Text 8"/>
          <p:cNvSpPr txBox="1"/>
          <p:nvPr/>
        </p:nvSpPr>
        <p:spPr>
          <a:xfrm>
            <a:off x="6263640" y="1463040"/>
            <a:ext cx="2286000" cy="274320"/>
          </a:xfrm>
          <a:prstGeom prst="rect">
            <a:avLst/>
          </a:prstGeom>
          <a:noFill/>
          <a:ln/>
        </p:spPr>
        <p:txBody>
          <a:bodyPr wrap="square" lIns="0" tIns="0" rIns="0" bIns="0" rtlCol="0" anchor="t"/>
          <a:lstStyle/>
          <a:p>
            <a:pPr indent="0" marL="0">
              <a:buNone/>
            </a:pPr>
            <a:r>
              <a:rPr lang="en-US" sz="1300" b="1" dirty="0">
                <a:solidFill>
                  <a:srgbClr val="D92D20"/>
                </a:solidFill>
                <a:latin typeface="Arial" pitchFamily="34" charset="0"/>
                <a:ea typeface="Arial" pitchFamily="34" charset="-122"/>
                <a:cs typeface="Arial" pitchFamily="34" charset="-120"/>
              </a:rPr>
              <a:t>3. Hold up</a:t>
            </a:r>
            <a:endParaRPr lang="en-US" sz="1300" dirty="0"/>
          </a:p>
        </p:txBody>
      </p:sp>
      <p:sp>
        <p:nvSpPr>
          <p:cNvPr id="12" name="Text 9"/>
          <p:cNvSpPr txBox="1"/>
          <p:nvPr/>
        </p:nvSpPr>
        <p:spPr>
          <a:xfrm>
            <a:off x="6263640" y="1828800"/>
            <a:ext cx="2286000" cy="548640"/>
          </a:xfrm>
          <a:prstGeom prst="rect">
            <a:avLst/>
          </a:prstGeom>
          <a:noFill/>
          <a:ln/>
        </p:spPr>
        <p:txBody>
          <a:bodyPr wrap="square" lIns="0" tIns="0" rIns="0" bIns="0" rtlCol="0" anchor="t"/>
          <a:lstStyle/>
          <a:p>
            <a:pPr indent="0" marL="0">
              <a:buNone/>
            </a:pPr>
            <a:r>
              <a:rPr lang="en-US" sz="1400" b="1" dirty="0">
                <a:solidFill>
                  <a:srgbClr val="D92D20"/>
                </a:solidFill>
                <a:latin typeface="Arial" pitchFamily="34" charset="0"/>
                <a:ea typeface="Arial" pitchFamily="34" charset="-122"/>
                <a:cs typeface="Arial" pitchFamily="34" charset="-120"/>
              </a:rPr>
              <a:t>Ça ne correspond pas à ce que tu as écrit.</a:t>
            </a:r>
            <a:endParaRPr lang="en-US" sz="1400" dirty="0"/>
          </a:p>
        </p:txBody>
      </p:sp>
      <p:sp>
        <p:nvSpPr>
          <p:cNvPr id="13" name="Text 10"/>
          <p:cNvSpPr txBox="1"/>
          <p:nvPr/>
        </p:nvSpPr>
        <p:spPr>
          <a:xfrm>
            <a:off x="457200" y="283464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Ça correspond : le portefeuille s’ouvre seul après une seconde.</a:t>
            </a:r>
            <a:endParaRPr lang="en-US" sz="1500" dirty="0"/>
          </a:p>
          <a:p>
            <a:pPr marL="342900" indent="-3429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Ça ne correspond pas : alerte, Annuler visible.</a:t>
            </a:r>
            <a:endParaRPr lang="en-US" sz="1500" dirty="0"/>
          </a:p>
          <a:p>
            <a:pPr marL="342900" indent="-3429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Pas pu vérifier : la fenêtre le dit, jamais « correspond » par défaut.</a:t>
            </a:r>
            <a:endParaRPr lang="en-US" sz="1500" dirty="0"/>
          </a:p>
        </p:txBody>
      </p:sp>
      <p:sp>
        <p:nvSpPr>
          <p:cNvPr id="14" name="Text 11"/>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On garde aussi les signaux que le portefeuille donne déjà.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Le signataire aveugle (cas Bybit)</a:t>
            </a:r>
            <a:endParaRPr lang="en-US" sz="3000" dirty="0"/>
          </a:p>
        </p:txBody>
      </p:sp>
      <p:sp>
        <p:nvSpPr>
          <p:cNvPr id="4" name="Shape 1"/>
          <p:cNvSpPr/>
          <p:nvPr/>
        </p:nvSpPr>
        <p:spPr>
          <a:xfrm>
            <a:off x="457200" y="1371600"/>
            <a:ext cx="4023360" cy="2011680"/>
          </a:xfrm>
          <a:prstGeom prst="rect">
            <a:avLst/>
          </a:prstGeom>
          <a:solidFill>
            <a:srgbClr val="F5F5F5"/>
          </a:solidFill>
          <a:ln w="9525">
            <a:solidFill>
              <a:srgbClr val="E2E2E2"/>
            </a:solidFill>
            <a:prstDash val="solid"/>
          </a:ln>
        </p:spPr>
      </p:sp>
      <p:sp>
        <p:nvSpPr>
          <p:cNvPr id="5" name="Text 2"/>
          <p:cNvSpPr txBox="1"/>
          <p:nvPr/>
        </p:nvSpPr>
        <p:spPr>
          <a:xfrm>
            <a:off x="640080" y="1463040"/>
            <a:ext cx="3657600" cy="274320"/>
          </a:xfrm>
          <a:prstGeom prst="rect">
            <a:avLst/>
          </a:prstGeom>
          <a:noFill/>
          <a:ln/>
        </p:spPr>
        <p:txBody>
          <a:bodyPr wrap="square" lIns="0" tIns="0" rIns="0" bIns="0" rtlCol="0" anchor="t"/>
          <a:lstStyle/>
          <a:p>
            <a:pPr indent="0" marL="0">
              <a:buNone/>
            </a:pPr>
            <a:r>
              <a:rPr lang="en-US" sz="1300" b="1" dirty="0">
                <a:solidFill>
                  <a:srgbClr val="595959"/>
                </a:solidFill>
                <a:latin typeface="Arial" pitchFamily="34" charset="0"/>
                <a:ea typeface="Arial" pitchFamily="34" charset="-122"/>
                <a:cs typeface="Arial" pitchFamily="34" charset="-120"/>
              </a:rPr>
              <a:t>J'ai écrit</a:t>
            </a:r>
            <a:endParaRPr lang="en-US" sz="1300" dirty="0"/>
          </a:p>
        </p:txBody>
      </p:sp>
      <p:sp>
        <p:nvSpPr>
          <p:cNvPr id="6" name="Text 3"/>
          <p:cNvSpPr txBox="1"/>
          <p:nvPr/>
        </p:nvSpPr>
        <p:spPr>
          <a:xfrm>
            <a:off x="640080" y="1783080"/>
            <a:ext cx="3657600" cy="45720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virer 20 USDC à Paul</a:t>
            </a:r>
            <a:endParaRPr lang="en-US" sz="2000" dirty="0"/>
          </a:p>
        </p:txBody>
      </p:sp>
      <p:sp>
        <p:nvSpPr>
          <p:cNvPr id="7" name="Shape 4"/>
          <p:cNvSpPr/>
          <p:nvPr/>
        </p:nvSpPr>
        <p:spPr>
          <a:xfrm>
            <a:off x="4663440" y="1371600"/>
            <a:ext cx="4023360" cy="2011680"/>
          </a:xfrm>
          <a:prstGeom prst="rect">
            <a:avLst/>
          </a:prstGeom>
          <a:solidFill>
            <a:srgbClr val="FFFFFF"/>
          </a:solidFill>
          <a:ln w="9525">
            <a:solidFill>
              <a:srgbClr val="D92D20"/>
            </a:solidFill>
            <a:prstDash val="solid"/>
          </a:ln>
        </p:spPr>
      </p:sp>
      <p:sp>
        <p:nvSpPr>
          <p:cNvPr id="8" name="Text 5"/>
          <p:cNvSpPr txBox="1"/>
          <p:nvPr/>
        </p:nvSpPr>
        <p:spPr>
          <a:xfrm>
            <a:off x="4846320" y="1463040"/>
            <a:ext cx="3657600" cy="274320"/>
          </a:xfrm>
          <a:prstGeom prst="rect">
            <a:avLst/>
          </a:prstGeom>
          <a:noFill/>
          <a:ln/>
        </p:spPr>
        <p:txBody>
          <a:bodyPr wrap="square" lIns="0" tIns="0" rIns="0" bIns="0" rtlCol="0" anchor="t"/>
          <a:lstStyle/>
          <a:p>
            <a:pPr indent="0" marL="0">
              <a:buNone/>
            </a:pPr>
            <a:r>
              <a:rPr lang="en-US" sz="1300" b="1" dirty="0">
                <a:solidFill>
                  <a:srgbClr val="D92D20"/>
                </a:solidFill>
                <a:latin typeface="Arial" pitchFamily="34" charset="0"/>
                <a:ea typeface="Arial" pitchFamily="34" charset="-122"/>
                <a:cs typeface="Arial" pitchFamily="34" charset="-120"/>
              </a:rPr>
              <a:t>La demande est</a:t>
            </a:r>
            <a:endParaRPr lang="en-US" sz="1300" dirty="0"/>
          </a:p>
        </p:txBody>
      </p:sp>
      <p:sp>
        <p:nvSpPr>
          <p:cNvPr id="9" name="Text 6"/>
          <p:cNvSpPr txBox="1"/>
          <p:nvPr/>
        </p:nvSpPr>
        <p:spPr>
          <a:xfrm>
            <a:off x="4846320" y="1783080"/>
            <a:ext cx="3657600" cy="1280160"/>
          </a:xfrm>
          <a:prstGeom prst="rect">
            <a:avLst/>
          </a:prstGeom>
          <a:noFill/>
          <a:ln/>
        </p:spPr>
        <p:txBody>
          <a:bodyPr wrap="square" lIns="0" tIns="0" rIns="0" bIns="0" rtlCol="0" anchor="t"/>
          <a:lstStyle/>
          <a:p>
            <a:pPr indent="0" marL="0">
              <a:buNone/>
            </a:pPr>
            <a:r>
              <a:rPr lang="en-US" sz="1700" b="1" dirty="0">
                <a:solidFill>
                  <a:srgbClr val="D92D20"/>
                </a:solidFill>
                <a:latin typeface="Arial" pitchFamily="34" charset="0"/>
                <a:ea typeface="Arial" pitchFamily="34" charset="-122"/>
                <a:cs typeface="Arial" pitchFamily="34" charset="-120"/>
              </a:rPr>
              <a:t>un appel délégué vers un contrat inconnu, qui change le code du coffre</a:t>
            </a:r>
            <a:endParaRPr lang="en-US" sz="1700" dirty="0"/>
          </a:p>
        </p:txBody>
      </p:sp>
      <p:sp>
        <p:nvSpPr>
          <p:cNvPr id="10" name="Text 7"/>
          <p:cNvSpPr txBox="1"/>
          <p:nvPr/>
        </p:nvSpPr>
        <p:spPr>
          <a:xfrm>
            <a:off x="457200" y="3657600"/>
            <a:ext cx="82296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Ça ne correspond pas.</a:t>
            </a:r>
            <a:endParaRPr lang="en-US" sz="2000" dirty="0"/>
          </a:p>
        </p:txBody>
      </p:sp>
      <p:sp>
        <p:nvSpPr>
          <p:cNvPr id="11" name="Text 8"/>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Scène synthétique, adresses factices. Elle montre le décodage, pas l’attaque.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 Me connecter » qui signe un droit</a:t>
            </a:r>
            <a:endParaRPr lang="en-US" sz="3000" dirty="0"/>
          </a:p>
        </p:txBody>
      </p:sp>
      <p:sp>
        <p:nvSpPr>
          <p:cNvPr id="4" name="Shape 1"/>
          <p:cNvSpPr/>
          <p:nvPr/>
        </p:nvSpPr>
        <p:spPr>
          <a:xfrm>
            <a:off x="457200" y="1371600"/>
            <a:ext cx="4023360" cy="2377440"/>
          </a:xfrm>
          <a:prstGeom prst="rect">
            <a:avLst/>
          </a:prstGeom>
          <a:solidFill>
            <a:srgbClr val="F5F5F5"/>
          </a:solidFill>
          <a:ln w="9525">
            <a:solidFill>
              <a:srgbClr val="E2E2E2"/>
            </a:solidFill>
            <a:prstDash val="solid"/>
          </a:ln>
        </p:spPr>
      </p:sp>
      <p:sp>
        <p:nvSpPr>
          <p:cNvPr id="5" name="Text 2"/>
          <p:cNvSpPr txBox="1"/>
          <p:nvPr/>
        </p:nvSpPr>
        <p:spPr>
          <a:xfrm>
            <a:off x="640080" y="1463040"/>
            <a:ext cx="3657600" cy="274320"/>
          </a:xfrm>
          <a:prstGeom prst="rect">
            <a:avLst/>
          </a:prstGeom>
          <a:noFill/>
          <a:ln/>
        </p:spPr>
        <p:txBody>
          <a:bodyPr wrap="square" lIns="0" tIns="0" rIns="0" bIns="0" rtlCol="0" anchor="t"/>
          <a:lstStyle/>
          <a:p>
            <a:pPr indent="0" marL="0">
              <a:buNone/>
            </a:pPr>
            <a:r>
              <a:rPr lang="en-US" sz="1300" b="1" dirty="0">
                <a:solidFill>
                  <a:srgbClr val="595959"/>
                </a:solidFill>
                <a:latin typeface="Arial" pitchFamily="34" charset="0"/>
                <a:ea typeface="Arial" pitchFamily="34" charset="-122"/>
                <a:cs typeface="Arial" pitchFamily="34" charset="-120"/>
              </a:rPr>
              <a:t>MetaMask affiche</a:t>
            </a:r>
            <a:endParaRPr lang="en-US" sz="1300" dirty="0"/>
          </a:p>
        </p:txBody>
      </p:sp>
      <p:sp>
        <p:nvSpPr>
          <p:cNvPr id="6" name="Text 3"/>
          <p:cNvSpPr txBox="1"/>
          <p:nvPr/>
        </p:nvSpPr>
        <p:spPr>
          <a:xfrm>
            <a:off x="640080" y="1828800"/>
            <a:ext cx="3657600" cy="1645920"/>
          </a:xfrm>
          <a:prstGeom prst="rect">
            <a:avLst/>
          </a:prstGeom>
          <a:noFill/>
          <a:ln/>
        </p:spPr>
        <p:txBody>
          <a:bodyPr wrap="square" lIns="0" tIns="0" rIns="0" bIns="0" rtlCol="0" anchor="t"/>
          <a:lstStyle/>
          <a:p>
            <a:pPr indent="0" marL="0">
              <a:buNone/>
            </a:pPr>
            <a:r>
              <a:rPr lang="en-US" sz="1700" dirty="0">
                <a:solidFill>
                  <a:srgbClr val="000000"/>
                </a:solidFill>
                <a:latin typeface="Arial" pitchFamily="34" charset="0"/>
                <a:ea typeface="Arial" pitchFamily="34" charset="-122"/>
                <a:cs typeface="Arial" pitchFamily="34" charset="-120"/>
              </a:rPr>
              <a:t>Une demande de plafond de dépense. Il ne sait pas que tu voulais seulement te connecter.</a:t>
            </a:r>
            <a:endParaRPr lang="en-US" sz="1700" dirty="0"/>
          </a:p>
        </p:txBody>
      </p:sp>
      <p:sp>
        <p:nvSpPr>
          <p:cNvPr id="7" name="Shape 4"/>
          <p:cNvSpPr/>
          <p:nvPr/>
        </p:nvSpPr>
        <p:spPr>
          <a:xfrm>
            <a:off x="4663440" y="1371600"/>
            <a:ext cx="4023360" cy="2377440"/>
          </a:xfrm>
          <a:prstGeom prst="rect">
            <a:avLst/>
          </a:prstGeom>
          <a:solidFill>
            <a:srgbClr val="FFFFFF"/>
          </a:solidFill>
          <a:ln w="9525">
            <a:solidFill>
              <a:srgbClr val="D92D20"/>
            </a:solidFill>
            <a:prstDash val="solid"/>
          </a:ln>
        </p:spPr>
      </p:sp>
      <p:sp>
        <p:nvSpPr>
          <p:cNvPr id="8" name="Text 5"/>
          <p:cNvSpPr txBox="1"/>
          <p:nvPr/>
        </p:nvSpPr>
        <p:spPr>
          <a:xfrm>
            <a:off x="4846320" y="1463040"/>
            <a:ext cx="3657600" cy="274320"/>
          </a:xfrm>
          <a:prstGeom prst="rect">
            <a:avLst/>
          </a:prstGeom>
          <a:noFill/>
          <a:ln/>
        </p:spPr>
        <p:txBody>
          <a:bodyPr wrap="square" lIns="0" tIns="0" rIns="0" bIns="0" rtlCol="0" anchor="t"/>
          <a:lstStyle/>
          <a:p>
            <a:pPr indent="0" marL="0">
              <a:buNone/>
            </a:pPr>
            <a:r>
              <a:rPr lang="en-US" sz="1300" b="1" dirty="0">
                <a:solidFill>
                  <a:srgbClr val="D92D20"/>
                </a:solidFill>
                <a:latin typeface="Arial" pitchFamily="34" charset="0"/>
                <a:ea typeface="Arial" pitchFamily="34" charset="-122"/>
                <a:cs typeface="Arial" pitchFamily="34" charset="-120"/>
              </a:rPr>
              <a:t>Hold up, après « me connecter »</a:t>
            </a:r>
            <a:endParaRPr lang="en-US" sz="1300" dirty="0"/>
          </a:p>
        </p:txBody>
      </p:sp>
      <p:sp>
        <p:nvSpPr>
          <p:cNvPr id="9" name="Text 6"/>
          <p:cNvSpPr txBox="1"/>
          <p:nvPr/>
        </p:nvSpPr>
        <p:spPr>
          <a:xfrm>
            <a:off x="4846320" y="1828800"/>
            <a:ext cx="3657600" cy="1645920"/>
          </a:xfrm>
          <a:prstGeom prst="rect">
            <a:avLst/>
          </a:prstGeom>
          <a:noFill/>
          <a:ln/>
        </p:spPr>
        <p:txBody>
          <a:bodyPr wrap="square" lIns="0" tIns="0" rIns="0" bIns="0" rtlCol="0" anchor="t"/>
          <a:lstStyle/>
          <a:p>
            <a:pPr indent="0" marL="0">
              <a:buNone/>
            </a:pPr>
            <a:r>
              <a:rPr lang="en-US" sz="1700" b="1" dirty="0">
                <a:solidFill>
                  <a:srgbClr val="D92D20"/>
                </a:solidFill>
                <a:latin typeface="Arial" pitchFamily="34" charset="0"/>
                <a:ea typeface="Arial" pitchFamily="34" charset="-122"/>
                <a:cs typeface="Arial" pitchFamily="34" charset="-120"/>
              </a:rPr>
              <a:t>Ça ne correspond pas : une connexion ne devrait pas donner un droit de dépense.</a:t>
            </a:r>
            <a:endParaRPr lang="en-US" sz="1700" dirty="0"/>
          </a:p>
        </p:txBody>
      </p:sp>
      <p:sp>
        <p:nvSpPr>
          <p:cNvPr id="10" name="Text 7"/>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Démo locale : le résultat ne dit rien du comportement de MetaMask en production.</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2600" b="1" dirty="0">
                <a:solidFill>
                  <a:srgbClr val="000000"/>
                </a:solidFill>
                <a:latin typeface="Arial" pitchFamily="34" charset="0"/>
                <a:ea typeface="Arial" pitchFamily="34" charset="-122"/>
                <a:cs typeface="Arial" pitchFamily="34" charset="-120"/>
              </a:rPr>
              <a:t>Ce que nous mesurons, et ce que nous ne savons pas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3291840"/>
                <a:gridCol w="2194560"/>
              </a:tblGrid>
              <a:tr h="32004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Synthétique (cas écrits par nous)</a:t>
                      </a:r>
                      <a:endParaRPr lang="en-US" sz="1200" dirty="0">
                        <a:latin typeface="Arial" charset="0"/>
                        <a:ea typeface="Arial" charset="0"/>
                        <a:cs typeface="Arial" charset="0"/>
                      </a:endParaRPr>
                    </a:p>
                  </a:txBody>
                  <a:tcPr marL="91440" marR="91440" marT="45720" marB="45720">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00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Résultat</a:t>
                      </a:r>
                      <a:endParaRPr lang="en-US" sz="1200" dirty="0">
                        <a:latin typeface="Arial" charset="0"/>
                        <a:ea typeface="Arial" charset="0"/>
                        <a:cs typeface="Arial" charset="0"/>
                      </a:endParaRPr>
                    </a:p>
                  </a:txBody>
                  <a:tcPr marL="91440" marR="91440" marT="45720" marB="45720">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00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Lecture</a:t>
                      </a:r>
                      <a:endParaRPr lang="en-US" sz="1200" dirty="0">
                        <a:latin typeface="Arial" charset="0"/>
                        <a:ea typeface="Arial" charset="0"/>
                        <a:cs typeface="Arial" charset="0"/>
                      </a:endParaRPr>
                    </a:p>
                  </a:txBody>
                  <a:tcPr marL="91440" marR="91440" marT="45720" marB="45720">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00000"/>
                    </a:solidFill>
                  </a:tcPr>
                </a:tc>
              </a:tr>
              <a:tr h="640080">
                <a:tc>
                  <a:txBody>
                    <a:bodyPr/>
                    <a:lstStyle/>
                    <a:p>
                      <a:pPr indent="0" marL="0">
                        <a:buNone/>
                      </a:pPr>
                      <a:r>
                        <a:rPr lang="en-US" sz="1200" b="1" dirty="0">
                          <a:solidFill>
                            <a:srgbClr val="000000"/>
                          </a:solidFill>
                          <a:latin typeface="Arial" pitchFamily="34" charset="0"/>
                          <a:ea typeface="Arial" pitchFamily="34" charset="-122"/>
                          <a:cs typeface="Arial" pitchFamily="34" charset="-120"/>
                        </a:rPr>
                        <a:t>410 cas de décalage</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228 écarts sur 228 signalés. 0 fausse alerte rouge sur 166 honnêtes.</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Test de couverture, pas une mesure.</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48640">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Moteur en conditions produit</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Rappel rouge 71,3 %. Honnêtes en rouge 13,9 %.</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D92D20"/>
                          </a:solidFill>
                          <a:latin typeface="Arial" pitchFamily="34" charset="0"/>
                          <a:ea typeface="Arial" pitchFamily="34" charset="-122"/>
                          <a:cs typeface="Arial" pitchFamily="34" charset="-120"/>
                        </a:rPr>
                        <a:t>Trop de fausses alertes.</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40080">
                <a:tc>
                  <a:txBody>
                    <a:bodyPr/>
                    <a:lstStyle/>
                    <a:p>
                      <a:pPr indent="0" marL="0">
                        <a:buNone/>
                      </a:pPr>
                      <a:r>
                        <a:rPr lang="en-US" sz="1200" b="1" dirty="0">
                          <a:solidFill>
                            <a:srgbClr val="000000"/>
                          </a:solidFill>
                          <a:latin typeface="Arial" pitchFamily="34" charset="0"/>
                          <a:ea typeface="Arial" pitchFamily="34" charset="-122"/>
                          <a:cs typeface="Arial" pitchFamily="34" charset="-120"/>
                        </a:rPr>
                        <a:t>Phrase libre sur 298 arnaques vertes</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0 arrêtée. Intention structurée : 34.</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D92D20"/>
                          </a:solidFill>
                          <a:latin typeface="Arial" pitchFamily="34" charset="0"/>
                          <a:ea typeface="Arial" pitchFamily="34" charset="-122"/>
                          <a:cs typeface="Arial" pitchFamily="34" charset="-120"/>
                        </a:rPr>
                        <a:t>Peu d'apport sur nos cas actuels.</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40080">
                <a:tc>
                  <a:txBody>
                    <a:bodyPr/>
                    <a:lstStyle/>
                    <a:p>
                      <a:pPr indent="0" marL="0">
                        <a:buNone/>
                      </a:pPr>
                      <a:r>
                        <a:rPr lang="en-US" sz="1200" b="1" dirty="0">
                          <a:solidFill>
                            <a:srgbClr val="000000"/>
                          </a:solidFill>
                          <a:latin typeface="Arial" pitchFamily="34" charset="0"/>
                          <a:ea typeface="Arial" pitchFamily="34" charset="-122"/>
                          <a:cs typeface="Arial" pitchFamily="34" charset="-120"/>
                        </a:rPr>
                        <a:t>Jeu aveugle (250 cas), grille (1 500 paires)</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b="1" dirty="0">
                          <a:solidFill>
                            <a:srgbClr val="D92D20"/>
                          </a:solidFill>
                          <a:latin typeface="Arial" pitchFamily="34" charset="0"/>
                          <a:ea typeface="Arial" pitchFamily="34" charset="-122"/>
                          <a:cs typeface="Arial" pitchFamily="34" charset="-120"/>
                        </a:rPr>
                        <a:t>À mesurer</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Hash publié avant le test.</a:t>
                      </a:r>
                      <a:endParaRPr lang="en-US" sz="12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5" name="Text 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Données réelles : aucune ne mesure Hold up. Le contexte est en colonne B de livrables/CHIFFRES.md.</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Après l'alerte, la personne décide</a:t>
            </a:r>
            <a:endParaRPr lang="en-US" sz="3000" dirty="0"/>
          </a:p>
        </p:txBody>
      </p:sp>
      <p:sp>
        <p:nvSpPr>
          <p:cNvPr id="4" name="Shape 1"/>
          <p:cNvSpPr/>
          <p:nvPr/>
        </p:nvSpPr>
        <p:spPr>
          <a:xfrm>
            <a:off x="457200" y="1371600"/>
            <a:ext cx="4023360" cy="2743200"/>
          </a:xfrm>
          <a:prstGeom prst="rect">
            <a:avLst/>
          </a:prstGeom>
          <a:solidFill>
            <a:srgbClr val="F5F5F5"/>
          </a:solidFill>
          <a:ln w="9525">
            <a:solidFill>
              <a:srgbClr val="E2E2E2"/>
            </a:solidFill>
            <a:prstDash val="solid"/>
          </a:ln>
        </p:spPr>
      </p:sp>
      <p:sp>
        <p:nvSpPr>
          <p:cNvPr id="5" name="Text 2"/>
          <p:cNvSpPr txBox="1"/>
          <p:nvPr/>
        </p:nvSpPr>
        <p:spPr>
          <a:xfrm>
            <a:off x="640080" y="1463040"/>
            <a:ext cx="36576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Transaction</a:t>
            </a:r>
            <a:endParaRPr lang="en-US" sz="2000" dirty="0"/>
          </a:p>
        </p:txBody>
      </p:sp>
      <p:sp>
        <p:nvSpPr>
          <p:cNvPr id="6" name="Text 3"/>
          <p:cNvSpPr txBox="1"/>
          <p:nvPr/>
        </p:nvSpPr>
        <p:spPr>
          <a:xfrm>
            <a:off x="640080" y="1965960"/>
            <a:ext cx="3657600" cy="201168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La ligne dit : tu as écrit 50 USDC, la demande donne accès à tout ton USDC. Elle explique comment ramener le plafond à 50 USDC.</a:t>
            </a:r>
            <a:endParaRPr lang="en-US" sz="1500" dirty="0"/>
          </a:p>
        </p:txBody>
      </p:sp>
      <p:sp>
        <p:nvSpPr>
          <p:cNvPr id="7" name="Shape 4"/>
          <p:cNvSpPr/>
          <p:nvPr/>
        </p:nvSpPr>
        <p:spPr>
          <a:xfrm>
            <a:off x="4663440" y="1371600"/>
            <a:ext cx="4023360" cy="2743200"/>
          </a:xfrm>
          <a:prstGeom prst="rect">
            <a:avLst/>
          </a:prstGeom>
          <a:solidFill>
            <a:srgbClr val="F5F5F5"/>
          </a:solidFill>
          <a:ln w="9525">
            <a:solidFill>
              <a:srgbClr val="E2E2E2"/>
            </a:solidFill>
            <a:prstDash val="solid"/>
          </a:ln>
        </p:spPr>
      </p:sp>
      <p:sp>
        <p:nvSpPr>
          <p:cNvPr id="8" name="Text 5"/>
          <p:cNvSpPr txBox="1"/>
          <p:nvPr/>
        </p:nvSpPr>
        <p:spPr>
          <a:xfrm>
            <a:off x="4846320" y="1463040"/>
            <a:ext cx="36576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Signature</a:t>
            </a:r>
            <a:endParaRPr lang="en-US" sz="2000" dirty="0"/>
          </a:p>
        </p:txBody>
      </p:sp>
      <p:sp>
        <p:nvSpPr>
          <p:cNvPr id="9" name="Text 6"/>
          <p:cNvSpPr txBox="1"/>
          <p:nvPr/>
        </p:nvSpPr>
        <p:spPr>
          <a:xfrm>
            <a:off x="4846320" y="1965960"/>
            <a:ext cx="3657600" cy="201168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Elle ne peut pas être limitée : la ligne le dit et ne donne aucun conseil que personne ne peut suivre.</a:t>
            </a:r>
            <a:endParaRPr lang="en-US" sz="1500" dirty="0"/>
          </a:p>
        </p:txBody>
      </p:sp>
      <p:sp>
        <p:nvSpPr>
          <p:cNvPr id="10" name="Text 7"/>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200" b="1" dirty="0">
                <a:solidFill>
                  <a:srgbClr val="595959"/>
                </a:solidFill>
                <a:latin typeface="Arial" pitchFamily="34" charset="0"/>
                <a:ea typeface="Arial" pitchFamily="34" charset="-122"/>
                <a:cs typeface="Arial" pitchFamily="34" charset="-120"/>
              </a:rPr>
              <a:t>Chaque décision laisse une ligne dans un journal chaîné par hachage.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Une décision, une trace, un rejeu</a:t>
            </a:r>
            <a:endParaRPr lang="en-US" sz="3000" dirty="0"/>
          </a:p>
        </p:txBody>
      </p:sp>
      <p:sp>
        <p:nvSpPr>
          <p:cNvPr id="4" name="Shape 1"/>
          <p:cNvSpPr/>
          <p:nvPr/>
        </p:nvSpPr>
        <p:spPr>
          <a:xfrm>
            <a:off x="457200" y="1371600"/>
            <a:ext cx="1993392" cy="2926080"/>
          </a:xfrm>
          <a:prstGeom prst="rect">
            <a:avLst/>
          </a:prstGeom>
          <a:solidFill>
            <a:srgbClr val="F5F5F5"/>
          </a:solidFill>
          <a:ln w="9525">
            <a:solidFill>
              <a:srgbClr val="E2E2E2"/>
            </a:solidFill>
            <a:prstDash val="solid"/>
          </a:ln>
        </p:spPr>
      </p:sp>
      <p:sp>
        <p:nvSpPr>
          <p:cNvPr id="5" name="Text 2"/>
          <p:cNvSpPr txBox="1"/>
          <p:nvPr/>
        </p:nvSpPr>
        <p:spPr>
          <a:xfrm>
            <a:off x="566928"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DORA</a:t>
            </a:r>
            <a:endParaRPr lang="en-US" sz="1400" dirty="0"/>
          </a:p>
        </p:txBody>
      </p:sp>
      <p:sp>
        <p:nvSpPr>
          <p:cNvPr id="6" name="Text 3"/>
          <p:cNvSpPr txBox="1"/>
          <p:nvPr/>
        </p:nvSpPr>
        <p:spPr>
          <a:xfrm>
            <a:off x="566928"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Une ligne datée par décision, rejouable : matière pour le registre. Pas de classification ni de déclaration.</a:t>
            </a:r>
            <a:endParaRPr lang="en-US" sz="1100" dirty="0"/>
          </a:p>
        </p:txBody>
      </p:sp>
      <p:sp>
        <p:nvSpPr>
          <p:cNvPr id="7" name="Shape 4"/>
          <p:cNvSpPr/>
          <p:nvPr/>
        </p:nvSpPr>
        <p:spPr>
          <a:xfrm>
            <a:off x="2542032" y="1371600"/>
            <a:ext cx="1993392" cy="2926080"/>
          </a:xfrm>
          <a:prstGeom prst="rect">
            <a:avLst/>
          </a:prstGeom>
          <a:solidFill>
            <a:srgbClr val="F5F5F5"/>
          </a:solidFill>
          <a:ln w="9525">
            <a:solidFill>
              <a:srgbClr val="E2E2E2"/>
            </a:solidFill>
            <a:prstDash val="solid"/>
          </a:ln>
        </p:spPr>
      </p:sp>
      <p:sp>
        <p:nvSpPr>
          <p:cNvPr id="8" name="Text 5"/>
          <p:cNvSpPr txBox="1"/>
          <p:nvPr/>
        </p:nvSpPr>
        <p:spPr>
          <a:xfrm>
            <a:off x="2651760"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MiCA, LCB-FT</a:t>
            </a:r>
            <a:endParaRPr lang="en-US" sz="1400" dirty="0"/>
          </a:p>
        </p:txBody>
      </p:sp>
      <p:sp>
        <p:nvSpPr>
          <p:cNvPr id="9" name="Text 6"/>
          <p:cNvSpPr txBox="1"/>
          <p:nvPr/>
        </p:nvSpPr>
        <p:spPr>
          <a:xfrm>
            <a:off x="2651760"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Trace de ce qui a été écrit et répondu. Aucun filtrage de sanctions, aucune déclaration de soupçon.</a:t>
            </a:r>
            <a:endParaRPr lang="en-US" sz="1100" dirty="0"/>
          </a:p>
        </p:txBody>
      </p:sp>
      <p:sp>
        <p:nvSpPr>
          <p:cNvPr id="10" name="Shape 7"/>
          <p:cNvSpPr/>
          <p:nvPr/>
        </p:nvSpPr>
        <p:spPr>
          <a:xfrm>
            <a:off x="4626864" y="1371600"/>
            <a:ext cx="1993392" cy="2926080"/>
          </a:xfrm>
          <a:prstGeom prst="rect">
            <a:avLst/>
          </a:prstGeom>
          <a:solidFill>
            <a:srgbClr val="F5F5F5"/>
          </a:solidFill>
          <a:ln w="9525">
            <a:solidFill>
              <a:srgbClr val="E2E2E2"/>
            </a:solidFill>
            <a:prstDash val="solid"/>
          </a:ln>
        </p:spPr>
      </p:sp>
      <p:sp>
        <p:nvSpPr>
          <p:cNvPr id="11" name="Text 8"/>
          <p:cNvSpPr txBox="1"/>
          <p:nvPr/>
        </p:nvSpPr>
        <p:spPr>
          <a:xfrm>
            <a:off x="4736592"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AI Act</a:t>
            </a:r>
            <a:endParaRPr lang="en-US" sz="1400" dirty="0"/>
          </a:p>
        </p:txBody>
      </p:sp>
      <p:sp>
        <p:nvSpPr>
          <p:cNvPr id="12" name="Text 9"/>
          <p:cNvSpPr txBox="1"/>
          <p:nvPr/>
        </p:nvSpPr>
        <p:spPr>
          <a:xfrm>
            <a:off x="4736592"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Un modèle lit la phrase. Du code lit montants, jetons, adresses. Pas de qualification établie.</a:t>
            </a:r>
            <a:endParaRPr lang="en-US" sz="1100" dirty="0"/>
          </a:p>
        </p:txBody>
      </p:sp>
      <p:sp>
        <p:nvSpPr>
          <p:cNvPr id="13" name="Shape 10"/>
          <p:cNvSpPr/>
          <p:nvPr/>
        </p:nvSpPr>
        <p:spPr>
          <a:xfrm>
            <a:off x="6711696" y="1371600"/>
            <a:ext cx="1993392" cy="2926080"/>
          </a:xfrm>
          <a:prstGeom prst="rect">
            <a:avLst/>
          </a:prstGeom>
          <a:solidFill>
            <a:srgbClr val="F5F5F5"/>
          </a:solidFill>
          <a:ln w="9525">
            <a:solidFill>
              <a:srgbClr val="E2E2E2"/>
            </a:solidFill>
            <a:prstDash val="solid"/>
          </a:ln>
        </p:spPr>
      </p:sp>
      <p:sp>
        <p:nvSpPr>
          <p:cNvPr id="14" name="Text 11"/>
          <p:cNvSpPr txBox="1"/>
          <p:nvPr/>
        </p:nvSpPr>
        <p:spPr>
          <a:xfrm>
            <a:off x="6821424"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Auditeur</a:t>
            </a:r>
            <a:endParaRPr lang="en-US" sz="1400" dirty="0"/>
          </a:p>
        </p:txBody>
      </p:sp>
      <p:sp>
        <p:nvSpPr>
          <p:cNvPr id="15" name="Text 12"/>
          <p:cNvSpPr txBox="1"/>
          <p:nvPr/>
        </p:nvSpPr>
        <p:spPr>
          <a:xfrm>
            <a:off x="6821424"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Une commande recalcule la chaîne et rejoue le moteur. Réécriture complète : détectée seulement après ancrage.</a:t>
            </a:r>
            <a:endParaRPr lang="en-US" sz="1100" dirty="0"/>
          </a:p>
        </p:txBody>
      </p:sp>
      <p:sp>
        <p:nvSpPr>
          <p:cNvPr id="16" name="Text 13"/>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b="1" dirty="0">
                <a:solidFill>
                  <a:srgbClr val="595959"/>
                </a:solidFill>
                <a:latin typeface="Arial" pitchFamily="34" charset="0"/>
                <a:ea typeface="Arial" pitchFamily="34" charset="-122"/>
                <a:cs typeface="Arial" pitchFamily="34" charset="-120"/>
              </a:rPr>
              <a:t>NIST CSF 2.0 : DE.AE-02, DE.AE-07, DE.CM-09, RS.MI-01.   ATT&amp;CK : T1657, T1566, T1204.</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Ce qu'on ne couvre pas</a:t>
            </a:r>
            <a:endParaRPr lang="en-US" sz="3000" dirty="0"/>
          </a:p>
        </p:txBody>
      </p:sp>
      <p:sp>
        <p:nvSpPr>
          <p:cNvPr id="4" name="Shape 1"/>
          <p:cNvSpPr/>
          <p:nvPr/>
        </p:nvSpPr>
        <p:spPr>
          <a:xfrm>
            <a:off x="457200" y="1371600"/>
            <a:ext cx="4023360" cy="1371600"/>
          </a:xfrm>
          <a:prstGeom prst="rect">
            <a:avLst/>
          </a:prstGeom>
          <a:solidFill>
            <a:srgbClr val="F5F5F5"/>
          </a:solidFill>
          <a:ln w="9525">
            <a:solidFill>
              <a:srgbClr val="E2E2E2"/>
            </a:solidFill>
            <a:prstDash val="solid"/>
          </a:ln>
        </p:spPr>
      </p:sp>
      <p:sp>
        <p:nvSpPr>
          <p:cNvPr id="5" name="Text 2"/>
          <p:cNvSpPr txBox="1"/>
          <p:nvPr/>
        </p:nvSpPr>
        <p:spPr>
          <a:xfrm>
            <a:off x="640080" y="148132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Fraude consentie</a:t>
            </a:r>
            <a:endParaRPr lang="en-US" sz="1600" dirty="0"/>
          </a:p>
        </p:txBody>
      </p:sp>
      <p:sp>
        <p:nvSpPr>
          <p:cNvPr id="6" name="Text 3"/>
          <p:cNvSpPr txBox="1"/>
          <p:nvPr/>
        </p:nvSpPr>
        <p:spPr>
          <a:xfrm>
            <a:off x="640080" y="190195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Tu veux vraiment faire ce paiement. La demande correspond.</a:t>
            </a:r>
            <a:endParaRPr lang="en-US" sz="1300" dirty="0"/>
          </a:p>
        </p:txBody>
      </p:sp>
      <p:sp>
        <p:nvSpPr>
          <p:cNvPr id="7" name="Shape 4"/>
          <p:cNvSpPr/>
          <p:nvPr/>
        </p:nvSpPr>
        <p:spPr>
          <a:xfrm>
            <a:off x="4663440" y="1371600"/>
            <a:ext cx="4023360" cy="1371600"/>
          </a:xfrm>
          <a:prstGeom prst="rect">
            <a:avLst/>
          </a:prstGeom>
          <a:solidFill>
            <a:srgbClr val="F5F5F5"/>
          </a:solidFill>
          <a:ln w="9525">
            <a:solidFill>
              <a:srgbClr val="E2E2E2"/>
            </a:solidFill>
            <a:prstDash val="solid"/>
          </a:ln>
        </p:spPr>
      </p:sp>
      <p:sp>
        <p:nvSpPr>
          <p:cNvPr id="8" name="Text 5"/>
          <p:cNvSpPr txBox="1"/>
          <p:nvPr/>
        </p:nvSpPr>
        <p:spPr>
          <a:xfrm>
            <a:off x="4846320" y="148132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Intention vague</a:t>
            </a:r>
            <a:endParaRPr lang="en-US" sz="1600" dirty="0"/>
          </a:p>
        </p:txBody>
      </p:sp>
      <p:sp>
        <p:nvSpPr>
          <p:cNvPr id="9" name="Text 6"/>
          <p:cNvSpPr txBox="1"/>
          <p:nvPr/>
        </p:nvSpPr>
        <p:spPr>
          <a:xfrm>
            <a:off x="4846320" y="190195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 Payer » sans montant ni destinataire : une relance, puis « je n'ai pas pu vérifier ».</a:t>
            </a:r>
            <a:endParaRPr lang="en-US" sz="1300" dirty="0"/>
          </a:p>
        </p:txBody>
      </p:sp>
      <p:sp>
        <p:nvSpPr>
          <p:cNvPr id="10" name="Shape 7"/>
          <p:cNvSpPr/>
          <p:nvPr/>
        </p:nvSpPr>
        <p:spPr>
          <a:xfrm>
            <a:off x="457200" y="2926080"/>
            <a:ext cx="4023360" cy="1371600"/>
          </a:xfrm>
          <a:prstGeom prst="rect">
            <a:avLst/>
          </a:prstGeom>
          <a:solidFill>
            <a:srgbClr val="F5F5F5"/>
          </a:solidFill>
          <a:ln w="9525">
            <a:solidFill>
              <a:srgbClr val="E2E2E2"/>
            </a:solidFill>
            <a:prstDash val="solid"/>
          </a:ln>
        </p:spPr>
      </p:sp>
      <p:sp>
        <p:nvSpPr>
          <p:cNvPr id="11" name="Text 8"/>
          <p:cNvSpPr txBox="1"/>
          <p:nvPr/>
        </p:nvSpPr>
        <p:spPr>
          <a:xfrm>
            <a:off x="640080" y="303580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Contrat qui change à l’exécution</a:t>
            </a:r>
            <a:endParaRPr lang="en-US" sz="1600" dirty="0"/>
          </a:p>
        </p:txBody>
      </p:sp>
      <p:sp>
        <p:nvSpPr>
          <p:cNvPr id="12" name="Text 9"/>
          <p:cNvSpPr txBox="1"/>
          <p:nvPr/>
        </p:nvSpPr>
        <p:spPr>
          <a:xfrm>
            <a:off x="640080" y="345643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Added Protection de MetaMask le traite mieux. Nous ne le revendiquons pas.</a:t>
            </a:r>
            <a:endParaRPr lang="en-US" sz="1300" dirty="0"/>
          </a:p>
        </p:txBody>
      </p:sp>
      <p:sp>
        <p:nvSpPr>
          <p:cNvPr id="13" name="Shape 10"/>
          <p:cNvSpPr/>
          <p:nvPr/>
        </p:nvSpPr>
        <p:spPr>
          <a:xfrm>
            <a:off x="4663440" y="2926080"/>
            <a:ext cx="4023360" cy="1371600"/>
          </a:xfrm>
          <a:prstGeom prst="rect">
            <a:avLst/>
          </a:prstGeom>
          <a:solidFill>
            <a:srgbClr val="F5F5F5"/>
          </a:solidFill>
          <a:ln w="9525">
            <a:solidFill>
              <a:srgbClr val="E2E2E2"/>
            </a:solidFill>
            <a:prstDash val="solid"/>
          </a:ln>
        </p:spPr>
      </p:sp>
      <p:sp>
        <p:nvSpPr>
          <p:cNvPr id="14" name="Text 11"/>
          <p:cNvSpPr txBox="1"/>
          <p:nvPr/>
        </p:nvSpPr>
        <p:spPr>
          <a:xfrm>
            <a:off x="4846320" y="303580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Ledger direct</a:t>
            </a:r>
            <a:endParaRPr lang="en-US" sz="1600" dirty="0"/>
          </a:p>
        </p:txBody>
      </p:sp>
      <p:sp>
        <p:nvSpPr>
          <p:cNvPr id="15" name="Text 12"/>
          <p:cNvSpPr txBox="1"/>
          <p:nvPr/>
        </p:nvSpPr>
        <p:spPr>
          <a:xfrm>
            <a:off x="4846320" y="345643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Une page qui parle au matériel sans passer par le navigateur échappe à l'extension.</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Deux ingénieurs, des limites écrites</a:t>
            </a:r>
            <a:endParaRPr lang="en-US" sz="3000" dirty="0"/>
          </a:p>
        </p:txBody>
      </p:sp>
      <p:sp>
        <p:nvSpPr>
          <p:cNvPr id="4" name="Text 1"/>
          <p:cNvSpPr txBox="1"/>
          <p:nvPr/>
        </p:nvSpPr>
        <p:spPr>
          <a:xfrm>
            <a:off x="457200" y="1371600"/>
            <a:ext cx="32004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Adem et Titouan</a:t>
            </a:r>
            <a:endParaRPr lang="en-US" sz="2000" dirty="0"/>
          </a:p>
        </p:txBody>
      </p:sp>
      <p:sp>
        <p:nvSpPr>
          <p:cNvPr id="5" name="Text 2"/>
          <p:cNvSpPr txBox="1"/>
          <p:nvPr/>
        </p:nvSpPr>
        <p:spPr>
          <a:xfrm>
            <a:off x="457200" y="1920240"/>
            <a:ext cx="3200400" cy="13716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Gratuit pour les personnes, des partenaires ensuite. Pas de prix fixé, pas de client.</a:t>
            </a:r>
            <a:endParaRPr lang="en-US" sz="1500" dirty="0"/>
          </a:p>
        </p:txBody>
      </p:sp>
      <p:sp>
        <p:nvSpPr>
          <p:cNvPr id="6" name="Text 3"/>
          <p:cNvSpPr txBox="1"/>
          <p:nvPr/>
        </p:nvSpPr>
        <p:spPr>
          <a:xfrm>
            <a:off x="4023360" y="1371600"/>
            <a:ext cx="4572000" cy="365760"/>
          </a:xfrm>
          <a:prstGeom prst="rect">
            <a:avLst/>
          </a:prstGeom>
          <a:noFill/>
          <a:ln/>
        </p:spPr>
        <p:txBody>
          <a:bodyPr wrap="square" lIns="0" tIns="0" rIns="0" bIns="0" rtlCol="0" anchor="t"/>
          <a:lstStyle/>
          <a:p>
            <a:pPr indent="0" marL="0">
              <a:buNone/>
            </a:pPr>
            <a:r>
              <a:rPr lang="en-US" sz="1800" b="1" dirty="0">
                <a:solidFill>
                  <a:srgbClr val="D92D20"/>
                </a:solidFill>
                <a:latin typeface="Arial" pitchFamily="34" charset="0"/>
                <a:ea typeface="Arial" pitchFamily="34" charset="-122"/>
                <a:cs typeface="Arial" pitchFamily="34" charset="-120"/>
              </a:rPr>
              <a:t>Pas encore fait</a:t>
            </a:r>
            <a:endParaRPr lang="en-US" sz="1800" dirty="0"/>
          </a:p>
        </p:txBody>
      </p:sp>
      <p:sp>
        <p:nvSpPr>
          <p:cNvPr id="7" name="Text 4"/>
          <p:cNvSpPr txBox="1"/>
          <p:nvPr/>
        </p:nvSpPr>
        <p:spPr>
          <a:xfrm>
            <a:off x="4023360" y="1874520"/>
            <a:ext cx="4572000" cy="21031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Essai avec un vrai portefeuille</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Jeu aveugle de 250 cas</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Grille de 1 500 paires</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Mesure de Clef sur la comparaison</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Test avec de vraies personnes</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Ancrage sur Fuji</a:t>
            </a:r>
            <a:endParaRPr lang="en-US" sz="1500" dirty="0"/>
          </a:p>
        </p:txBody>
      </p:sp>
      <p:sp>
        <p:nvSpPr>
          <p:cNvPr id="8" name="Text 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Ce qu'on vous demande : écrivez votre phrase, attaquez-nous.</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2026-10-11T05:05:33Z</dcterms:created>
  <dcterms:modified xsi:type="dcterms:W3CDTF">2026-10-11T05:05:33Z</dcterms:modified>
</cp:coreProperties>
</file>