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mesures différentes, ne pas les mélanger. (1) Extension, réserve scellée (preuves/RESULTAT_RESERVE_MOTS.md, commit 61dbe40) : preuves/panel/RESERVE.jsonl, 2 673 paires, ouverte une fois le 11 oct. 2026. Demandes non conformes : 1 789, dont 1 334 attrapées (74,6 %), 0 laissée passer sans alerte, 455 en « je n'ai pas pu vérifier » (25,4 %). Demandes conformes : 515, dont 190 « ça correspond », 71 fausses alertes (13,8 % des conformes, 27,2 % des conformes vérifiées), 254 en « pas pu vérifier ». Réserves : lecture de la phrase par mots-clés seulement, le bras avec Clef n'a pas été terminé ; build 6b9de2f, d'avant le nouvel habillage ; un fichier du code de décision était modifié hors commit au lancement ; la réserve est consommée. (2) Moteur de comparaison côté serveur, jeu aveugle de 250 cas (150 arnaques, 100 jumeaux honnêtes) : 87,3 % signalées avec la phrase, 64,7 % sans, faux rouges 15,0 % pour un seuil fixé avant à 10 %, manqué ; auteur des cas : une IA de la même famille que celle qui nous a aidés. Ne jamais dire « l'extension attrape 87 % ». Ne pas citer A11 ni A12 de CHIFFRES.md.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57200" y="3703320"/>
            <a:ext cx="384048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 pirate se sert de l’accès illimité.</a:t>
            </a:r>
            <a:endParaRPr lang="en-US" sz="1400" dirty="0"/>
          </a:p>
        </p:txBody>
      </p:sp>
      <p:sp>
        <p:nvSpPr>
          <p:cNvPr id="14" name="Text 11"/>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5" name="Text 12"/>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16" name="Text 13"/>
          <p:cNvSpPr txBox="1"/>
          <p:nvPr/>
        </p:nvSpPr>
        <p:spPr>
          <a:xfrm>
            <a:off x="4846320" y="3703320"/>
            <a:ext cx="3840480" cy="5486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avais limité l’accès aux 50 de l’échange. Il n’y a plus rien à prendre.</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Mesuré : l’extension, et le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preuves/RESULTAT_RESERVE_MOTS.md, research/titouan/T_banc_e2e/blind_decalage/run/RESULTAT.md</a:t>
            </a:r>
            <a:endParaRPr lang="en-US" sz="1000" dirty="0"/>
          </a:p>
        </p:txBody>
      </p:sp>
      <p:sp>
        <p:nvSpPr>
          <p:cNvPr id="5" name="Text 2"/>
          <p:cNvSpPr txBox="1"/>
          <p:nvPr/>
        </p:nvSpPr>
        <p:spPr>
          <a:xfrm>
            <a:off x="457200" y="1097280"/>
            <a:ext cx="3840480" cy="32004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L’extension</a:t>
            </a:r>
            <a:endParaRPr lang="en-US" sz="1800" dirty="0"/>
          </a:p>
        </p:txBody>
      </p:sp>
      <p:sp>
        <p:nvSpPr>
          <p:cNvPr id="6" name="Text 3"/>
          <p:cNvSpPr txBox="1"/>
          <p:nvPr/>
        </p:nvSpPr>
        <p:spPr>
          <a:xfrm>
            <a:off x="457200" y="1444752"/>
            <a:ext cx="3840480" cy="274320"/>
          </a:xfrm>
          <a:prstGeom prst="rect">
            <a:avLst/>
          </a:prstGeom>
          <a:noFill/>
          <a:ln/>
        </p:spPr>
        <p:txBody>
          <a:bodyPr wrap="square" lIns="0" tIns="0" rIns="0" bIns="0" rtlCol="0" anchor="t"/>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Réserve scellée, 2 673 paires, ouverte une fois.</a:t>
            </a:r>
            <a:endParaRPr lang="en-US" sz="1300" dirty="0"/>
          </a:p>
        </p:txBody>
      </p:sp>
      <p:sp>
        <p:nvSpPr>
          <p:cNvPr id="7" name="Text 4"/>
          <p:cNvSpPr txBox="1"/>
          <p:nvPr/>
        </p:nvSpPr>
        <p:spPr>
          <a:xfrm>
            <a:off x="457200" y="1828800"/>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75 %</a:t>
            </a:r>
            <a:endParaRPr lang="en-US" sz="2600" dirty="0"/>
          </a:p>
        </p:txBody>
      </p:sp>
      <p:sp>
        <p:nvSpPr>
          <p:cNvPr id="8" name="Text 5"/>
          <p:cNvSpPr txBox="1"/>
          <p:nvPr/>
        </p:nvSpPr>
        <p:spPr>
          <a:xfrm>
            <a:off x="1645920" y="1828800"/>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des demandes non conformes attrapées (1 334 sur 1 789)</a:t>
            </a:r>
            <a:endParaRPr lang="en-US" sz="1300" dirty="0"/>
          </a:p>
        </p:txBody>
      </p:sp>
      <p:sp>
        <p:nvSpPr>
          <p:cNvPr id="9" name="Text 6"/>
          <p:cNvSpPr txBox="1"/>
          <p:nvPr/>
        </p:nvSpPr>
        <p:spPr>
          <a:xfrm>
            <a:off x="457200" y="2359152"/>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0</a:t>
            </a:r>
            <a:endParaRPr lang="en-US" sz="2600" dirty="0"/>
          </a:p>
        </p:txBody>
      </p:sp>
      <p:sp>
        <p:nvSpPr>
          <p:cNvPr id="10" name="Text 7"/>
          <p:cNvSpPr txBox="1"/>
          <p:nvPr/>
        </p:nvSpPr>
        <p:spPr>
          <a:xfrm>
            <a:off x="1645920" y="2359152"/>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laissée passer sans alerte</a:t>
            </a:r>
            <a:endParaRPr lang="en-US" sz="1300" dirty="0"/>
          </a:p>
        </p:txBody>
      </p:sp>
      <p:sp>
        <p:nvSpPr>
          <p:cNvPr id="11" name="Text 8"/>
          <p:cNvSpPr txBox="1"/>
          <p:nvPr/>
        </p:nvSpPr>
        <p:spPr>
          <a:xfrm>
            <a:off x="457200" y="2889504"/>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25 %</a:t>
            </a:r>
            <a:endParaRPr lang="en-US" sz="2600" dirty="0"/>
          </a:p>
        </p:txBody>
      </p:sp>
      <p:sp>
        <p:nvSpPr>
          <p:cNvPr id="12" name="Text 9"/>
          <p:cNvSpPr txBox="1"/>
          <p:nvPr/>
        </p:nvSpPr>
        <p:spPr>
          <a:xfrm>
            <a:off x="1645920" y="2889504"/>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 Je n’ai pas pu vérifier »</a:t>
            </a:r>
            <a:endParaRPr lang="en-US" sz="1300" dirty="0"/>
          </a:p>
        </p:txBody>
      </p:sp>
      <p:sp>
        <p:nvSpPr>
          <p:cNvPr id="13" name="Text 10"/>
          <p:cNvSpPr txBox="1"/>
          <p:nvPr/>
        </p:nvSpPr>
        <p:spPr>
          <a:xfrm>
            <a:off x="457200" y="3419856"/>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14 %</a:t>
            </a:r>
            <a:endParaRPr lang="en-US" sz="2600" dirty="0"/>
          </a:p>
        </p:txBody>
      </p:sp>
      <p:sp>
        <p:nvSpPr>
          <p:cNvPr id="14" name="Text 11"/>
          <p:cNvSpPr txBox="1"/>
          <p:nvPr/>
        </p:nvSpPr>
        <p:spPr>
          <a:xfrm>
            <a:off x="1645920" y="3419856"/>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de fausses alertes (71 sur 515 demandes conformes)</a:t>
            </a:r>
            <a:endParaRPr lang="en-US" sz="1300" dirty="0"/>
          </a:p>
        </p:txBody>
      </p:sp>
      <p:sp>
        <p:nvSpPr>
          <p:cNvPr id="15" name="Text 12"/>
          <p:cNvSpPr txBox="1"/>
          <p:nvPr/>
        </p:nvSpPr>
        <p:spPr>
          <a:xfrm>
            <a:off x="4846320" y="1097280"/>
            <a:ext cx="3840480" cy="32004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Le moteur de comparaison</a:t>
            </a:r>
            <a:endParaRPr lang="en-US" sz="1800" dirty="0"/>
          </a:p>
        </p:txBody>
      </p:sp>
      <p:sp>
        <p:nvSpPr>
          <p:cNvPr id="16" name="Text 13"/>
          <p:cNvSpPr txBox="1"/>
          <p:nvPr/>
        </p:nvSpPr>
        <p:spPr>
          <a:xfrm>
            <a:off x="4846320" y="1444752"/>
            <a:ext cx="3840480" cy="274320"/>
          </a:xfrm>
          <a:prstGeom prst="rect">
            <a:avLst/>
          </a:prstGeom>
          <a:noFill/>
          <a:ln/>
        </p:spPr>
        <p:txBody>
          <a:bodyPr wrap="square" lIns="0" tIns="0" rIns="0" bIns="0" rtlCol="0" anchor="t"/>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Jeu aveugle de 250 cas, écrits sans voir nos règles.</a:t>
            </a:r>
            <a:endParaRPr lang="en-US" sz="1300" dirty="0"/>
          </a:p>
        </p:txBody>
      </p:sp>
      <p:sp>
        <p:nvSpPr>
          <p:cNvPr id="17" name="Text 14"/>
          <p:cNvSpPr txBox="1"/>
          <p:nvPr/>
        </p:nvSpPr>
        <p:spPr>
          <a:xfrm>
            <a:off x="4846320" y="1828800"/>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8" name="Text 15"/>
          <p:cNvSpPr txBox="1"/>
          <p:nvPr/>
        </p:nvSpPr>
        <p:spPr>
          <a:xfrm>
            <a:off x="6035040" y="1828800"/>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des arnaques signalées avec la phrase</a:t>
            </a:r>
            <a:endParaRPr lang="en-US" sz="1300" dirty="0"/>
          </a:p>
        </p:txBody>
      </p:sp>
      <p:sp>
        <p:nvSpPr>
          <p:cNvPr id="19" name="Text 16"/>
          <p:cNvSpPr txBox="1"/>
          <p:nvPr/>
        </p:nvSpPr>
        <p:spPr>
          <a:xfrm>
            <a:off x="4846320" y="2359152"/>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20" name="Text 17"/>
          <p:cNvSpPr txBox="1"/>
          <p:nvPr/>
        </p:nvSpPr>
        <p:spPr>
          <a:xfrm>
            <a:off x="6035040" y="2359152"/>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300" dirty="0"/>
          </a:p>
        </p:txBody>
      </p:sp>
      <p:sp>
        <p:nvSpPr>
          <p:cNvPr id="21" name="Text 18"/>
          <p:cNvSpPr txBox="1"/>
          <p:nvPr/>
        </p:nvSpPr>
        <p:spPr>
          <a:xfrm>
            <a:off x="4846320" y="2889504"/>
            <a:ext cx="114300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22" name="Text 19"/>
          <p:cNvSpPr txBox="1"/>
          <p:nvPr/>
        </p:nvSpPr>
        <p:spPr>
          <a:xfrm>
            <a:off x="6035040" y="2889504"/>
            <a:ext cx="2697480" cy="457200"/>
          </a:xfrm>
          <a:prstGeom prst="rect">
            <a:avLst/>
          </a:prstGeom>
          <a:noFill/>
          <a:ln/>
        </p:spPr>
        <p:txBody>
          <a:bodyPr wrap="square" lIns="0" tIns="0" rIns="0" bIns="0" rtlCol="0" anchor="ctr"/>
          <a:lstStyle/>
          <a:p>
            <a:pPr indent="0" marL="0">
              <a:buNone/>
            </a:pPr>
            <a:r>
              <a:rPr lang="en-US" sz="1300" dirty="0">
                <a:solidFill>
                  <a:srgbClr val="B3B3B3"/>
                </a:solidFill>
                <a:latin typeface="Segoe UI Variable Text" pitchFamily="34" charset="0"/>
                <a:ea typeface="Segoe UI Variable Text" pitchFamily="34" charset="-122"/>
                <a:cs typeface="Segoe UI Variable Text" pitchFamily="34" charset="-120"/>
              </a:rPr>
              <a:t>d’opérations honnêtes arrêtées à tort (seuil fixé avant : 10 %)</a:t>
            </a:r>
            <a:endParaRPr lang="en-US" sz="1300" dirty="0"/>
          </a:p>
        </p:txBody>
      </p:sp>
      <p:sp>
        <p:nvSpPr>
          <p:cNvPr id="23" name="Text 20"/>
          <p:cNvSpPr txBox="1"/>
          <p:nvPr/>
        </p:nvSpPr>
        <p:spPr>
          <a:xfrm>
            <a:off x="457200" y="4041648"/>
            <a:ext cx="8229600" cy="45720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Extension mesurée sans modèle (mots-clés seuls), sur le build 6b9de2f d’avant le nouvel habillage, avec un fichier de décision modifié hors commit.</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109728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Les 4 fois, elle avait lu « Ça ne correspond pas » et appuyé sur « Continuer » quand même. Jamais piégée sans ce geste. La testeuse est un agent qui joue une personne prudente, au clavier.</a:t>
            </a:r>
            <a:endParaRPr lang="en-US" sz="14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2026-10-11T09:37:54Z</dcterms:created>
  <dcterms:modified xsi:type="dcterms:W3CDTF">2026-10-11T09:37:54Z</dcterms:modified>
</cp:coreProperties>
</file>