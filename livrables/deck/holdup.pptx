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bloc 2). LI.FI, 16 juillet 2024 : 11,6 M$ pris à 153 portefeuilles qui avaient laissé une approbation illimitée, rien aux approbations finies, selon le rapport de LI.FI (li.fi/knowledge-hub/incident-report-16th-july, source éditeur ; CHIFFRES.md B7). À dire si on le demande : le montant fini était déjà le réglage par défaut de LI.FI, les 153 avaient choisi l'illimité ; et c'est sur plusieurs chaînes, pas un chiffre Avalanche. Postulat : tout service en ligne finira par être piraté ; la question devient « qu'est-ce que je lui ai laissé le droit de prendre ce jour-là ». Sur Avalanche C-Chain, 34,2 % [33,6 ; 34,9] des droits de dépense non nuls lus sont illimités (7 103 sur 20 753) : mesure interne, des événements et non des personnes. Ne pas citer 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mesures différentes, ne pas les mélanger. (1) Extension, réserve scellée (preuves/RESULTAT_RESERVE_MOTS.md, commit 61dbe40) : preuves/panel/RESERVE.jsonl, 2 673 paires, ouverte une fois le 11 oct. 2026. Demandes non conformes : 1 789, dont 1 334 attrapées (74,6 %), 0 laissée passer sans alerte, 455 en « je n'ai pas pu vérifier » (25,4 %). Demandes conformes : 515, dont 190 « ça correspond », 71 fausses alertes (13,8 % des conformes, 27,2 % des conformes vérifiées), 254 en « pas pu vérifier ». Réserves : lecture de la phrase par mots-clés seulement, le bras avec Clef n'a pas été terminé ; build 6b9de2f, d'avant le nouvel habillage ; un fichier du code de décision était modifié hors commit au lancement ; la réserve est consommée. (2) Moteur de comparaison côté serveur, jeu aveugle de 250 cas (150 arnaques, 100 jumeaux honnêtes) : 87,3 % signalées avec la phrase, 64,7 % sans, faux rouges 15,0 % pour un seuil fixé avant à 10 %, manqué ; auteur des cas : une IA de la même famille que celle qui nous a aidés. Ne jamais dire « l'extension attrape 87 % ». Ne pas citer A11 ni A12 de CHIFFRES.md.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économique de Titouan (commit bf06f8b, repris dans README.md, PRODUCT.md, FICHE_DEFENSE.md, PITCH_5MIN.md, PITCH_3MIN.md, QR_JURY.md), à dire tel quel : « Gratuit pour les personnes. Plus tard, une plateforme qui demande l'autorisation exacte (50 USDC pour un échange de 50, pas tout, pour toujours) pourra afficher Vérifié par Hold up. C'est elle qui paie. Critères publics, mesurés sur ses vraies demandes, pas de classement payé. » Hypothèse à valider avec des pilotes : aucun client, aucun revenu aujourd'hui, jamais présentée comme un revenu existant. Ne pas dire « certification » (étude : research/titouan/BM2/BM_LABEL.md).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54864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153</a:t>
            </a:r>
            <a:endParaRPr lang="en-US" sz="13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portefeuilles vidés chez LI.FI en juillet 2024 : 11,6 millions de dollars.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Tous avaient laissé une autorisation illimitée. Ceux qui l’avaient limitée n’ont rien perdu.</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4" name="Text 11"/>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pic>
        <p:nvPicPr>
          <p:cNvPr id="6"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 que l’extension a trouvé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preuves/RESULTAT_RESERVE_MOTS.md</a:t>
            </a:r>
            <a:endParaRPr lang="en-US" sz="1100" dirty="0"/>
          </a:p>
        </p:txBody>
      </p:sp>
      <p:sp>
        <p:nvSpPr>
          <p:cNvPr id="5" name="Text 2"/>
          <p:cNvSpPr txBox="1"/>
          <p:nvPr/>
        </p:nvSpPr>
        <p:spPr>
          <a:xfrm>
            <a:off x="45720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1 334</a:t>
            </a:r>
            <a:endParaRPr lang="en-US" sz="8000" dirty="0"/>
          </a:p>
        </p:txBody>
      </p:sp>
      <p:sp>
        <p:nvSpPr>
          <p:cNvPr id="6" name="Text 3"/>
          <p:cNvSpPr txBox="1"/>
          <p:nvPr/>
        </p:nvSpPr>
        <p:spPr>
          <a:xfrm>
            <a:off x="45720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demandes piégées attrapées, sur 1 789. Aucune n’est passée sans alerte.</a:t>
            </a:r>
            <a:endParaRPr lang="en-US" sz="1600" dirty="0"/>
          </a:p>
        </p:txBody>
      </p:sp>
      <p:sp>
        <p:nvSpPr>
          <p:cNvPr id="7" name="Text 4"/>
          <p:cNvSpPr txBox="1"/>
          <p:nvPr/>
        </p:nvSpPr>
        <p:spPr>
          <a:xfrm>
            <a:off x="484632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14 %</a:t>
            </a:r>
            <a:endParaRPr lang="en-US" sz="8000" dirty="0"/>
          </a:p>
        </p:txBody>
      </p:sp>
      <p:sp>
        <p:nvSpPr>
          <p:cNvPr id="8" name="Text 5"/>
          <p:cNvSpPr txBox="1"/>
          <p:nvPr/>
        </p:nvSpPr>
        <p:spPr>
          <a:xfrm>
            <a:off x="484632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 fausses alertes : 71 demandes honnêtes sur 515.</a:t>
            </a:r>
            <a:endParaRPr lang="en-US" sz="1600" dirty="0"/>
          </a:p>
        </p:txBody>
      </p:sp>
      <p:sp>
        <p:nvSpPr>
          <p:cNvPr id="9" name="Text 6"/>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Banc d’essai scellé, ouvert une seule fois.</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Les 4 fois : « Continuer » malgré l’alerte. La testeuse est un agent qui joue une personne prudente.</a:t>
            </a:r>
            <a:endParaRPr lang="en-US" sz="16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Qui paie ?</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README.md, livrables/PITCH_5MIN.md, research/titouan/BM2/BM_LABEL.md</a:t>
            </a:r>
            <a:endParaRPr lang="en-US" sz="1100" dirty="0"/>
          </a:p>
        </p:txBody>
      </p:sp>
      <p:sp>
        <p:nvSpPr>
          <p:cNvPr id="5" name="Text 2"/>
          <p:cNvSpPr txBox="1"/>
          <p:nvPr/>
        </p:nvSpPr>
        <p:spPr>
          <a:xfrm>
            <a:off x="457200" y="128016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Pour toi</a:t>
            </a:r>
            <a:endParaRPr lang="en-US" sz="1600" dirty="0"/>
          </a:p>
        </p:txBody>
      </p:sp>
      <p:sp>
        <p:nvSpPr>
          <p:cNvPr id="6" name="Text 3"/>
          <p:cNvSpPr txBox="1"/>
          <p:nvPr/>
        </p:nvSpPr>
        <p:spPr>
          <a:xfrm>
            <a:off x="457200" y="1645920"/>
            <a:ext cx="3931920" cy="1097280"/>
          </a:xfrm>
          <a:prstGeom prst="rect">
            <a:avLst/>
          </a:prstGeom>
          <a:noFill/>
          <a:ln/>
        </p:spPr>
        <p:txBody>
          <a:bodyPr wrap="square" lIns="0" tIns="0" rIns="0" bIns="0" rtlCol="0" anchor="t"/>
          <a:lstStyle/>
          <a:p>
            <a:pPr indent="0" marL="0">
              <a:buNone/>
            </a:pPr>
            <a:r>
              <a:rPr lang="en-US" sz="6600" dirty="0">
                <a:solidFill>
                  <a:srgbClr val="FFFFFF"/>
                </a:solidFill>
                <a:latin typeface="Segoe UI Variable Text Semibold" pitchFamily="34" charset="0"/>
                <a:ea typeface="Segoe UI Variable Text Semibold" pitchFamily="34" charset="-122"/>
                <a:cs typeface="Segoe UI Variable Text Semibold" pitchFamily="34" charset="-120"/>
              </a:rPr>
              <a:t>gratuit</a:t>
            </a:r>
            <a:endParaRPr lang="en-US" sz="6600" dirty="0"/>
          </a:p>
        </p:txBody>
      </p:sp>
      <p:sp>
        <p:nvSpPr>
          <p:cNvPr id="7" name="Text 4"/>
          <p:cNvSpPr txBox="1"/>
          <p:nvPr/>
        </p:nvSpPr>
        <p:spPr>
          <a:xfrm>
            <a:off x="457200" y="2880360"/>
            <a:ext cx="3657600" cy="73152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L’extension ne coûte rien aux personnes.</a:t>
            </a:r>
            <a:endParaRPr lang="en-US" sz="1600" dirty="0"/>
          </a:p>
        </p:txBody>
      </p:sp>
      <p:sp>
        <p:nvSpPr>
          <p:cNvPr id="8" name="Text 5"/>
          <p:cNvSpPr txBox="1"/>
          <p:nvPr/>
        </p:nvSpPr>
        <p:spPr>
          <a:xfrm>
            <a:off x="4846320" y="1280160"/>
            <a:ext cx="38404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Pour les sites</a:t>
            </a:r>
            <a:endParaRPr lang="en-US" sz="1600" dirty="0"/>
          </a:p>
        </p:txBody>
      </p:sp>
      <p:sp>
        <p:nvSpPr>
          <p:cNvPr id="9" name="Text 6"/>
          <p:cNvSpPr txBox="1"/>
          <p:nvPr/>
        </p:nvSpPr>
        <p:spPr>
          <a:xfrm>
            <a:off x="4846320" y="1645920"/>
            <a:ext cx="3931920" cy="1097280"/>
          </a:xfrm>
          <a:prstGeom prst="rect">
            <a:avLst/>
          </a:prstGeom>
          <a:noFill/>
          <a:ln/>
        </p:spPr>
        <p:txBody>
          <a:bodyPr wrap="square" lIns="0" tIns="0" rIns="0" bIns="0" rtlCol="0" anchor="t"/>
          <a:lstStyle/>
          <a:p>
            <a:pPr indent="0" marL="0">
              <a:buNone/>
            </a:pPr>
            <a:r>
              <a:rPr lang="en-US" sz="6600" dirty="0">
                <a:solidFill>
                  <a:srgbClr val="FFFFFF"/>
                </a:solidFill>
                <a:latin typeface="Segoe UI Variable Text Semibold" pitchFamily="34" charset="0"/>
                <a:ea typeface="Segoe UI Variable Text Semibold" pitchFamily="34" charset="-122"/>
                <a:cs typeface="Segoe UI Variable Text Semibold" pitchFamily="34" charset="-120"/>
              </a:rPr>
              <a:t>payant</a:t>
            </a:r>
            <a:endParaRPr lang="en-US" sz="6600" dirty="0"/>
          </a:p>
        </p:txBody>
      </p:sp>
      <p:sp>
        <p:nvSpPr>
          <p:cNvPr id="10" name="Text 7"/>
          <p:cNvSpPr txBox="1"/>
          <p:nvPr/>
        </p:nvSpPr>
        <p:spPr>
          <a:xfrm>
            <a:off x="4846320" y="2880360"/>
            <a:ext cx="3840480" cy="9144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Un site qui ne te demande que le nécessaire peut afficher « Vérifié par Hold up ». Il paie pour l’afficher.</a:t>
            </a:r>
            <a:endParaRPr lang="en-US" sz="1600" dirty="0"/>
          </a:p>
        </p:txBody>
      </p:sp>
      <p:sp>
        <p:nvSpPr>
          <p:cNvPr id="11" name="Text 8"/>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Les critères sont publics, le label ne s’achète pas. Aucun client aujourd’hui.</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2026-10-11T09:48:17Z</dcterms:created>
  <dcterms:modified xsi:type="dcterms:W3CDTF">2026-10-11T09:48:17Z</dcterms:modified>
</cp:coreProperties>
</file>